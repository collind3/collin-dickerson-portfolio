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5"/>
  </p:notesMasterIdLst>
  <p:sldIdLst>
    <p:sldId id="256" r:id="rId2"/>
    <p:sldId id="258" r:id="rId3"/>
    <p:sldId id="260" r:id="rId4"/>
    <p:sldId id="322" r:id="rId5"/>
    <p:sldId id="334" r:id="rId6"/>
    <p:sldId id="324" r:id="rId7"/>
    <p:sldId id="325" r:id="rId8"/>
    <p:sldId id="327" r:id="rId9"/>
    <p:sldId id="328" r:id="rId10"/>
    <p:sldId id="335" r:id="rId11"/>
    <p:sldId id="336" r:id="rId12"/>
    <p:sldId id="337" r:id="rId13"/>
    <p:sldId id="329" r:id="rId14"/>
    <p:sldId id="331" r:id="rId15"/>
    <p:sldId id="330" r:id="rId16"/>
    <p:sldId id="332" r:id="rId17"/>
    <p:sldId id="333" r:id="rId18"/>
    <p:sldId id="269" r:id="rId19"/>
    <p:sldId id="321" r:id="rId20"/>
    <p:sldId id="262" r:id="rId21"/>
    <p:sldId id="307" r:id="rId22"/>
    <p:sldId id="294" r:id="rId23"/>
    <p:sldId id="296" r:id="rId24"/>
    <p:sldId id="290" r:id="rId25"/>
    <p:sldId id="310" r:id="rId26"/>
    <p:sldId id="311" r:id="rId27"/>
    <p:sldId id="313" r:id="rId28"/>
    <p:sldId id="315" r:id="rId29"/>
    <p:sldId id="317" r:id="rId30"/>
    <p:sldId id="293" r:id="rId31"/>
    <p:sldId id="297" r:id="rId32"/>
    <p:sldId id="298" r:id="rId33"/>
    <p:sldId id="299" r:id="rId34"/>
  </p:sldIdLst>
  <p:sldSz cx="9144000" cy="5143500" type="screen16x9"/>
  <p:notesSz cx="6858000" cy="9144000"/>
  <p:embeddedFontLs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Final Project" id="{849C8699-006A-4CDF-917A-45A1E191987B}">
          <p14:sldIdLst>
            <p14:sldId id="256"/>
            <p14:sldId id="258"/>
            <p14:sldId id="260"/>
            <p14:sldId id="322"/>
            <p14:sldId id="334"/>
            <p14:sldId id="324"/>
            <p14:sldId id="325"/>
            <p14:sldId id="327"/>
            <p14:sldId id="328"/>
            <p14:sldId id="335"/>
            <p14:sldId id="336"/>
            <p14:sldId id="337"/>
            <p14:sldId id="329"/>
            <p14:sldId id="331"/>
            <p14:sldId id="330"/>
            <p14:sldId id="332"/>
            <p14:sldId id="333"/>
            <p14:sldId id="269"/>
          </p14:sldIdLst>
        </p14:section>
        <p14:section name="Midway Presentation" id="{AC5DB6A0-CEDC-4442-8771-92E06DC96255}">
          <p14:sldIdLst>
            <p14:sldId id="321"/>
            <p14:sldId id="262"/>
            <p14:sldId id="307"/>
            <p14:sldId id="294"/>
            <p14:sldId id="296"/>
            <p14:sldId id="290"/>
            <p14:sldId id="310"/>
            <p14:sldId id="311"/>
            <p14:sldId id="313"/>
            <p14:sldId id="315"/>
            <p14:sldId id="317"/>
            <p14:sldId id="293"/>
            <p14:sldId id="297"/>
            <p14:sldId id="298"/>
            <p14:sldId id="29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31F5A-841F-D4CD-5D9D-A2B0BF57B04B}" v="19" dt="2026-06-08T23:39:21.363"/>
    <p1510:client id="{6E1B3F67-DAD2-8DA5-AF4A-C3F117B78B84}" v="125" dt="2026-06-08T00:24:59.182"/>
  </p1510:revLst>
</p1510:revInfo>
</file>

<file path=ppt/tableStyles.xml><?xml version="1.0" encoding="utf-8"?>
<a:tblStyleLst xmlns:a="http://schemas.openxmlformats.org/drawingml/2006/main" def="{3EBE017D-FBF6-4934-A6BF-51FC292CA82F}">
  <a:tblStyle styleId="{3EBE017D-FBF6-4934-A6BF-51FC292CA8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F77BDE-8CB7-406B-90B4-986FBB22993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6828149-23A8-4C7F-B590-3D89BC31C858}">
      <dgm:prSet phldrT="[Text]" phldr="0"/>
      <dgm:spPr/>
      <dgm:t>
        <a:bodyPr/>
        <a:lstStyle/>
        <a:p>
          <a:r>
            <a:rPr lang="en-US">
              <a:latin typeface="Arial"/>
            </a:rPr>
            <a:t>Data acquisition</a:t>
          </a:r>
          <a:endParaRPr lang="en-US"/>
        </a:p>
      </dgm:t>
    </dgm:pt>
    <dgm:pt modelId="{464DC042-D5B6-42C8-8C41-11DD934A2682}" type="parTrans" cxnId="{7155B0E0-FFFF-401A-94B4-BCA057D45027}">
      <dgm:prSet/>
      <dgm:spPr/>
    </dgm:pt>
    <dgm:pt modelId="{617845A3-A7CB-4089-A44E-A229899D3F6A}" type="sibTrans" cxnId="{7155B0E0-FFFF-401A-94B4-BCA057D45027}">
      <dgm:prSet/>
      <dgm:spPr/>
      <dgm:t>
        <a:bodyPr/>
        <a:lstStyle/>
        <a:p>
          <a:endParaRPr lang="en-US"/>
        </a:p>
      </dgm:t>
    </dgm:pt>
    <dgm:pt modelId="{FF335FC8-D7F7-4CA5-B660-3882A87FF819}">
      <dgm:prSet phldrT="[Text]" phldr="0"/>
      <dgm:spPr/>
      <dgm:t>
        <a:bodyPr/>
        <a:lstStyle/>
        <a:p>
          <a:r>
            <a:rPr lang="en-US">
              <a:latin typeface="Arial"/>
            </a:rPr>
            <a:t>Event-driven edit spikes</a:t>
          </a:r>
          <a:endParaRPr lang="en-US"/>
        </a:p>
      </dgm:t>
    </dgm:pt>
    <dgm:pt modelId="{05306228-4BD4-4DC0-89C3-7D1AEE58EE35}" type="parTrans" cxnId="{C70D2AB3-4548-436F-BD7E-0E451F977004}">
      <dgm:prSet/>
      <dgm:spPr/>
    </dgm:pt>
    <dgm:pt modelId="{5CB62C61-86AD-4485-A330-E346EEDEEFAE}" type="sibTrans" cxnId="{C70D2AB3-4548-436F-BD7E-0E451F977004}">
      <dgm:prSet/>
      <dgm:spPr/>
      <dgm:t>
        <a:bodyPr/>
        <a:lstStyle/>
        <a:p>
          <a:endParaRPr lang="en-US"/>
        </a:p>
      </dgm:t>
    </dgm:pt>
    <dgm:pt modelId="{D61F4CC1-700A-49E7-9FBB-41795B5DE3FA}">
      <dgm:prSet phldrT="[Text]" phldr="0"/>
      <dgm:spPr/>
      <dgm:t>
        <a:bodyPr/>
        <a:lstStyle/>
        <a:p>
          <a:r>
            <a:rPr lang="en-US">
              <a:latin typeface="Arial"/>
            </a:rPr>
            <a:t>Text mining</a:t>
          </a:r>
        </a:p>
      </dgm:t>
    </dgm:pt>
    <dgm:pt modelId="{15869A11-07D8-4B6A-B401-6725C51631BA}" type="parTrans" cxnId="{433C3B54-4EED-4ED4-ACA7-155568AD016C}">
      <dgm:prSet/>
      <dgm:spPr/>
    </dgm:pt>
    <dgm:pt modelId="{5B00CF76-8077-4CEF-806A-693AC6600E4F}" type="sibTrans" cxnId="{433C3B54-4EED-4ED4-ACA7-155568AD016C}">
      <dgm:prSet/>
      <dgm:spPr/>
      <dgm:t>
        <a:bodyPr/>
        <a:lstStyle/>
        <a:p>
          <a:endParaRPr lang="en-US"/>
        </a:p>
      </dgm:t>
    </dgm:pt>
    <dgm:pt modelId="{80F9A6F9-E0BA-4390-A9B0-76C437D9F7B9}">
      <dgm:prSet phldrT="[Text]" phldr="0"/>
      <dgm:spPr/>
      <dgm:t>
        <a:bodyPr/>
        <a:lstStyle/>
        <a:p>
          <a:r>
            <a:rPr lang="en-US">
              <a:latin typeface="Arial"/>
            </a:rPr>
            <a:t>N-gram and TF-IDF</a:t>
          </a:r>
          <a:endParaRPr lang="en-US"/>
        </a:p>
      </dgm:t>
    </dgm:pt>
    <dgm:pt modelId="{667A644E-5067-40D5-8A35-BEF391B1F64D}" type="parTrans" cxnId="{5FEBD5D1-086A-4ABF-8FA7-04349E55D6C7}">
      <dgm:prSet/>
      <dgm:spPr/>
    </dgm:pt>
    <dgm:pt modelId="{BB0F50AF-407F-4C5C-9936-F87576563B15}" type="sibTrans" cxnId="{5FEBD5D1-086A-4ABF-8FA7-04349E55D6C7}">
      <dgm:prSet/>
      <dgm:spPr/>
      <dgm:t>
        <a:bodyPr/>
        <a:lstStyle/>
        <a:p>
          <a:endParaRPr lang="en-US"/>
        </a:p>
      </dgm:t>
    </dgm:pt>
    <dgm:pt modelId="{321B56A9-3099-473B-9494-A2A08AE7471A}">
      <dgm:prSet phldrT="[Text]" phldr="0"/>
      <dgm:spPr/>
      <dgm:t>
        <a:bodyPr/>
        <a:lstStyle/>
        <a:p>
          <a:r>
            <a:rPr lang="en-US">
              <a:latin typeface="Arial"/>
            </a:rPr>
            <a:t>Comment Similarity Analysis</a:t>
          </a:r>
        </a:p>
      </dgm:t>
    </dgm:pt>
    <dgm:pt modelId="{5E6C1C1C-4F40-4E74-8996-D4479BD70905}" type="parTrans" cxnId="{10C2E0C3-97BB-4589-861B-9F9ACC6982D6}">
      <dgm:prSet/>
      <dgm:spPr/>
    </dgm:pt>
    <dgm:pt modelId="{EEBF07B3-8F2D-4BAD-8A00-8919415831CD}" type="sibTrans" cxnId="{10C2E0C3-97BB-4589-861B-9F9ACC6982D6}">
      <dgm:prSet/>
      <dgm:spPr/>
      <dgm:t>
        <a:bodyPr/>
        <a:lstStyle/>
        <a:p>
          <a:endParaRPr lang="en-US"/>
        </a:p>
      </dgm:t>
    </dgm:pt>
    <dgm:pt modelId="{3A7900C0-61C5-4957-AC90-0D2C46055F27}">
      <dgm:prSet phldrT="[Text]" phldr="0"/>
      <dgm:spPr/>
      <dgm:t>
        <a:bodyPr/>
        <a:lstStyle/>
        <a:p>
          <a:r>
            <a:rPr lang="en-US">
              <a:latin typeface="Arial"/>
            </a:rPr>
            <a:t>VADER Sentiment Analysis</a:t>
          </a:r>
        </a:p>
      </dgm:t>
    </dgm:pt>
    <dgm:pt modelId="{576BD182-533B-4BE0-9343-40508F04B2B1}" type="parTrans" cxnId="{3A8180AC-D2D9-4E8F-A12A-5C9298C0F32B}">
      <dgm:prSet/>
      <dgm:spPr/>
    </dgm:pt>
    <dgm:pt modelId="{7AA9BA02-13D4-4435-94D0-0B4D08640020}" type="sibTrans" cxnId="{3A8180AC-D2D9-4E8F-A12A-5C9298C0F32B}">
      <dgm:prSet/>
      <dgm:spPr/>
      <dgm:t>
        <a:bodyPr/>
        <a:lstStyle/>
        <a:p>
          <a:endParaRPr lang="en-US"/>
        </a:p>
      </dgm:t>
    </dgm:pt>
    <dgm:pt modelId="{446921E1-008E-43D3-B85D-3E5763B55B13}">
      <dgm:prSet phldrT="[Text]" phldr="0"/>
      <dgm:spPr/>
      <dgm:t>
        <a:bodyPr/>
        <a:lstStyle/>
        <a:p>
          <a:r>
            <a:rPr lang="en-US">
              <a:latin typeface="Arial"/>
            </a:rPr>
            <a:t>POS Tagging</a:t>
          </a:r>
        </a:p>
      </dgm:t>
    </dgm:pt>
    <dgm:pt modelId="{A3F5760A-9989-4191-86A1-CD096FF765F3}" type="parTrans" cxnId="{5CD357F1-198F-4121-A867-6312ED47A47C}">
      <dgm:prSet/>
      <dgm:spPr/>
    </dgm:pt>
    <dgm:pt modelId="{5F17A854-1253-4BD8-801D-F6F9C93E1064}" type="sibTrans" cxnId="{5CD357F1-198F-4121-A867-6312ED47A47C}">
      <dgm:prSet/>
      <dgm:spPr/>
      <dgm:t>
        <a:bodyPr/>
        <a:lstStyle/>
        <a:p>
          <a:endParaRPr lang="en-US"/>
        </a:p>
      </dgm:t>
    </dgm:pt>
    <dgm:pt modelId="{7EE881F1-F6C5-41A9-993D-2A8F70179D2E}">
      <dgm:prSet phldrT="[Text]" phldr="0"/>
      <dgm:spPr/>
      <dgm:t>
        <a:bodyPr/>
        <a:lstStyle/>
        <a:p>
          <a:r>
            <a:rPr lang="en-US">
              <a:latin typeface="Arial"/>
            </a:rPr>
            <a:t>LDA Topics</a:t>
          </a:r>
        </a:p>
      </dgm:t>
    </dgm:pt>
    <dgm:pt modelId="{030BAEBE-5B00-42B7-BEC5-C4571D748EF9}" type="parTrans" cxnId="{0E82D883-831E-4E31-9182-0A17CC8D6A1F}">
      <dgm:prSet/>
      <dgm:spPr/>
    </dgm:pt>
    <dgm:pt modelId="{D1C6284B-4A19-4382-B084-5940AC90E4E1}" type="sibTrans" cxnId="{0E82D883-831E-4E31-9182-0A17CC8D6A1F}">
      <dgm:prSet/>
      <dgm:spPr/>
      <dgm:t>
        <a:bodyPr/>
        <a:lstStyle/>
        <a:p>
          <a:endParaRPr lang="en-US"/>
        </a:p>
      </dgm:t>
    </dgm:pt>
    <dgm:pt modelId="{1BBDC3B6-2B41-4185-9663-9268BA5EC166}">
      <dgm:prSet phldrT="[Text]" phldr="0"/>
      <dgm:spPr/>
      <dgm:t>
        <a:bodyPr/>
        <a:lstStyle/>
        <a:p>
          <a:r>
            <a:rPr lang="en-US">
              <a:latin typeface="Arial"/>
            </a:rPr>
            <a:t>Raid Keyword Analysis</a:t>
          </a:r>
          <a:endParaRPr lang="en-US"/>
        </a:p>
      </dgm:t>
    </dgm:pt>
    <dgm:pt modelId="{BAF66378-7DF2-4161-A65F-624B9864CB6E}" type="parTrans" cxnId="{BD080635-0C24-4662-8695-01FED513FA99}">
      <dgm:prSet/>
      <dgm:spPr/>
    </dgm:pt>
    <dgm:pt modelId="{24ED17CE-84E8-46DF-BE95-96E74E98434F}" type="sibTrans" cxnId="{BD080635-0C24-4662-8695-01FED513FA99}">
      <dgm:prSet/>
      <dgm:spPr/>
      <dgm:t>
        <a:bodyPr/>
        <a:lstStyle/>
        <a:p>
          <a:endParaRPr lang="en-US"/>
        </a:p>
      </dgm:t>
    </dgm:pt>
    <dgm:pt modelId="{4B09FB50-462D-4396-974A-AFCC451EE47B}">
      <dgm:prSet phldrT="[Text]" phldr="0"/>
      <dgm:spPr/>
      <dgm:t>
        <a:bodyPr/>
        <a:lstStyle/>
        <a:p>
          <a:r>
            <a:rPr lang="en-US">
              <a:latin typeface="Arial"/>
            </a:rPr>
            <a:t>EDA</a:t>
          </a:r>
        </a:p>
      </dgm:t>
    </dgm:pt>
    <dgm:pt modelId="{6D63F91E-43F9-4DCB-8C6F-3C549E6D8C49}" type="parTrans" cxnId="{E997F7C0-D5DA-4371-AF1D-AF1B17D50EC8}">
      <dgm:prSet/>
      <dgm:spPr/>
    </dgm:pt>
    <dgm:pt modelId="{E4D4B0E7-3E1D-4BB5-949D-9A0D8E810474}" type="sibTrans" cxnId="{E997F7C0-D5DA-4371-AF1D-AF1B17D50EC8}">
      <dgm:prSet/>
      <dgm:spPr/>
      <dgm:t>
        <a:bodyPr/>
        <a:lstStyle/>
        <a:p>
          <a:endParaRPr lang="en-US"/>
        </a:p>
      </dgm:t>
    </dgm:pt>
    <dgm:pt modelId="{2D15CC53-E087-4808-91D7-0AE6E9F5B832}" type="pres">
      <dgm:prSet presAssocID="{70F77BDE-8CB7-406B-90B4-986FBB22993F}" presName="CompostProcess" presStyleCnt="0">
        <dgm:presLayoutVars>
          <dgm:dir/>
          <dgm:resizeHandles val="exact"/>
        </dgm:presLayoutVars>
      </dgm:prSet>
      <dgm:spPr/>
    </dgm:pt>
    <dgm:pt modelId="{D1809AC9-CC97-4083-BD77-18C41668A7ED}" type="pres">
      <dgm:prSet presAssocID="{70F77BDE-8CB7-406B-90B4-986FBB22993F}" presName="arrow" presStyleLbl="bgShp" presStyleIdx="0" presStyleCnt="1"/>
      <dgm:spPr/>
    </dgm:pt>
    <dgm:pt modelId="{8A2BEEC8-3B41-450A-A747-40E34326782B}" type="pres">
      <dgm:prSet presAssocID="{70F77BDE-8CB7-406B-90B4-986FBB22993F}" presName="linearProcess" presStyleCnt="0"/>
      <dgm:spPr/>
    </dgm:pt>
    <dgm:pt modelId="{B5198926-6D1F-4F06-8079-CF267CC0FFB3}" type="pres">
      <dgm:prSet presAssocID="{76828149-23A8-4C7F-B590-3D89BC31C858}" presName="textNode" presStyleLbl="node1" presStyleIdx="0" presStyleCnt="10">
        <dgm:presLayoutVars>
          <dgm:bulletEnabled val="1"/>
        </dgm:presLayoutVars>
      </dgm:prSet>
      <dgm:spPr/>
    </dgm:pt>
    <dgm:pt modelId="{6D21837D-0FE4-40AB-A3A0-B658EB3951D5}" type="pres">
      <dgm:prSet presAssocID="{617845A3-A7CB-4089-A44E-A229899D3F6A}" presName="sibTrans" presStyleCnt="0"/>
      <dgm:spPr/>
    </dgm:pt>
    <dgm:pt modelId="{B95A065A-37BB-497A-8561-A0EF59D4FC0A}" type="pres">
      <dgm:prSet presAssocID="{4B09FB50-462D-4396-974A-AFCC451EE47B}" presName="textNode" presStyleLbl="node1" presStyleIdx="1" presStyleCnt="10">
        <dgm:presLayoutVars>
          <dgm:bulletEnabled val="1"/>
        </dgm:presLayoutVars>
      </dgm:prSet>
      <dgm:spPr/>
    </dgm:pt>
    <dgm:pt modelId="{BB7BE463-4B5E-4FD1-B390-EDF54593A5A3}" type="pres">
      <dgm:prSet presAssocID="{E4D4B0E7-3E1D-4BB5-949D-9A0D8E810474}" presName="sibTrans" presStyleCnt="0"/>
      <dgm:spPr/>
    </dgm:pt>
    <dgm:pt modelId="{ECF067C1-565E-4B52-9767-F15315841D9A}" type="pres">
      <dgm:prSet presAssocID="{FF335FC8-D7F7-4CA5-B660-3882A87FF819}" presName="textNode" presStyleLbl="node1" presStyleIdx="2" presStyleCnt="10">
        <dgm:presLayoutVars>
          <dgm:bulletEnabled val="1"/>
        </dgm:presLayoutVars>
      </dgm:prSet>
      <dgm:spPr/>
    </dgm:pt>
    <dgm:pt modelId="{D131BC6B-782E-4A55-868E-5D7E9CFD1C3D}" type="pres">
      <dgm:prSet presAssocID="{5CB62C61-86AD-4485-A330-E346EEDEEFAE}" presName="sibTrans" presStyleCnt="0"/>
      <dgm:spPr/>
    </dgm:pt>
    <dgm:pt modelId="{4A9823C5-60EC-4630-8546-25968DE4F27D}" type="pres">
      <dgm:prSet presAssocID="{D61F4CC1-700A-49E7-9FBB-41795B5DE3FA}" presName="textNode" presStyleLbl="node1" presStyleIdx="3" presStyleCnt="10">
        <dgm:presLayoutVars>
          <dgm:bulletEnabled val="1"/>
        </dgm:presLayoutVars>
      </dgm:prSet>
      <dgm:spPr/>
    </dgm:pt>
    <dgm:pt modelId="{DE69C3C1-F8D9-4A86-957E-B6262AAC0482}" type="pres">
      <dgm:prSet presAssocID="{5B00CF76-8077-4CEF-806A-693AC6600E4F}" presName="sibTrans" presStyleCnt="0"/>
      <dgm:spPr/>
    </dgm:pt>
    <dgm:pt modelId="{61F92C26-A6CF-4A4B-9DE3-F70EF8FC7A3A}" type="pres">
      <dgm:prSet presAssocID="{80F9A6F9-E0BA-4390-A9B0-76C437D9F7B9}" presName="textNode" presStyleLbl="node1" presStyleIdx="4" presStyleCnt="10">
        <dgm:presLayoutVars>
          <dgm:bulletEnabled val="1"/>
        </dgm:presLayoutVars>
      </dgm:prSet>
      <dgm:spPr/>
    </dgm:pt>
    <dgm:pt modelId="{B505A87A-F807-47C0-BCE9-41D361C126B2}" type="pres">
      <dgm:prSet presAssocID="{BB0F50AF-407F-4C5C-9936-F87576563B15}" presName="sibTrans" presStyleCnt="0"/>
      <dgm:spPr/>
    </dgm:pt>
    <dgm:pt modelId="{0F28D87D-63FB-4F74-8DEF-CF82DA57438B}" type="pres">
      <dgm:prSet presAssocID="{321B56A9-3099-473B-9494-A2A08AE7471A}" presName="textNode" presStyleLbl="node1" presStyleIdx="5" presStyleCnt="10">
        <dgm:presLayoutVars>
          <dgm:bulletEnabled val="1"/>
        </dgm:presLayoutVars>
      </dgm:prSet>
      <dgm:spPr/>
    </dgm:pt>
    <dgm:pt modelId="{4E4381C8-105E-4968-8D42-423DCC3450E7}" type="pres">
      <dgm:prSet presAssocID="{EEBF07B3-8F2D-4BAD-8A00-8919415831CD}" presName="sibTrans" presStyleCnt="0"/>
      <dgm:spPr/>
    </dgm:pt>
    <dgm:pt modelId="{C3700871-FD93-4A20-812E-47BED602933E}" type="pres">
      <dgm:prSet presAssocID="{3A7900C0-61C5-4957-AC90-0D2C46055F27}" presName="textNode" presStyleLbl="node1" presStyleIdx="6" presStyleCnt="10">
        <dgm:presLayoutVars>
          <dgm:bulletEnabled val="1"/>
        </dgm:presLayoutVars>
      </dgm:prSet>
      <dgm:spPr/>
    </dgm:pt>
    <dgm:pt modelId="{30DCE7AD-DE0E-4CD4-941A-A11F39501FE5}" type="pres">
      <dgm:prSet presAssocID="{7AA9BA02-13D4-4435-94D0-0B4D08640020}" presName="sibTrans" presStyleCnt="0"/>
      <dgm:spPr/>
    </dgm:pt>
    <dgm:pt modelId="{C4218A5C-5484-4958-90AF-3C2E4D5C884F}" type="pres">
      <dgm:prSet presAssocID="{446921E1-008E-43D3-B85D-3E5763B55B13}" presName="textNode" presStyleLbl="node1" presStyleIdx="7" presStyleCnt="10">
        <dgm:presLayoutVars>
          <dgm:bulletEnabled val="1"/>
        </dgm:presLayoutVars>
      </dgm:prSet>
      <dgm:spPr/>
    </dgm:pt>
    <dgm:pt modelId="{9F0F56B6-94B1-411E-8977-B4C4936FC86A}" type="pres">
      <dgm:prSet presAssocID="{5F17A854-1253-4BD8-801D-F6F9C93E1064}" presName="sibTrans" presStyleCnt="0"/>
      <dgm:spPr/>
    </dgm:pt>
    <dgm:pt modelId="{C4259F7E-CE98-4F92-98C9-2702D96128AC}" type="pres">
      <dgm:prSet presAssocID="{7EE881F1-F6C5-41A9-993D-2A8F70179D2E}" presName="textNode" presStyleLbl="node1" presStyleIdx="8" presStyleCnt="10">
        <dgm:presLayoutVars>
          <dgm:bulletEnabled val="1"/>
        </dgm:presLayoutVars>
      </dgm:prSet>
      <dgm:spPr/>
    </dgm:pt>
    <dgm:pt modelId="{8FA685A7-E9DC-4C7B-BC6D-454094D464B2}" type="pres">
      <dgm:prSet presAssocID="{D1C6284B-4A19-4382-B084-5940AC90E4E1}" presName="sibTrans" presStyleCnt="0"/>
      <dgm:spPr/>
    </dgm:pt>
    <dgm:pt modelId="{60A01229-3A2D-4ACB-9905-A03B5E00E3F1}" type="pres">
      <dgm:prSet presAssocID="{1BBDC3B6-2B41-4185-9663-9268BA5EC166}" presName="textNode" presStyleLbl="node1" presStyleIdx="9" presStyleCnt="10">
        <dgm:presLayoutVars>
          <dgm:bulletEnabled val="1"/>
        </dgm:presLayoutVars>
      </dgm:prSet>
      <dgm:spPr/>
    </dgm:pt>
  </dgm:ptLst>
  <dgm:cxnLst>
    <dgm:cxn modelId="{30448C03-12F9-4F46-89AE-BA4454584DF3}" type="presOf" srcId="{FF335FC8-D7F7-4CA5-B660-3882A87FF819}" destId="{ECF067C1-565E-4B52-9767-F15315841D9A}" srcOrd="0" destOrd="0" presId="urn:microsoft.com/office/officeart/2005/8/layout/hProcess9"/>
    <dgm:cxn modelId="{D85FDA12-19B5-44C4-8439-80D1861712E5}" type="presOf" srcId="{80F9A6F9-E0BA-4390-A9B0-76C437D9F7B9}" destId="{61F92C26-A6CF-4A4B-9DE3-F70EF8FC7A3A}" srcOrd="0" destOrd="0" presId="urn:microsoft.com/office/officeart/2005/8/layout/hProcess9"/>
    <dgm:cxn modelId="{BD080635-0C24-4662-8695-01FED513FA99}" srcId="{70F77BDE-8CB7-406B-90B4-986FBB22993F}" destId="{1BBDC3B6-2B41-4185-9663-9268BA5EC166}" srcOrd="9" destOrd="0" parTransId="{BAF66378-7DF2-4161-A65F-624B9864CB6E}" sibTransId="{24ED17CE-84E8-46DF-BE95-96E74E98434F}"/>
    <dgm:cxn modelId="{CAF25048-D596-4743-A293-C342353FF304}" type="presOf" srcId="{1BBDC3B6-2B41-4185-9663-9268BA5EC166}" destId="{60A01229-3A2D-4ACB-9905-A03B5E00E3F1}" srcOrd="0" destOrd="0" presId="urn:microsoft.com/office/officeart/2005/8/layout/hProcess9"/>
    <dgm:cxn modelId="{433C3B54-4EED-4ED4-ACA7-155568AD016C}" srcId="{70F77BDE-8CB7-406B-90B4-986FBB22993F}" destId="{D61F4CC1-700A-49E7-9FBB-41795B5DE3FA}" srcOrd="3" destOrd="0" parTransId="{15869A11-07D8-4B6A-B401-6725C51631BA}" sibTransId="{5B00CF76-8077-4CEF-806A-693AC6600E4F}"/>
    <dgm:cxn modelId="{14456457-9053-4E81-A727-23B2D5781F1D}" type="presOf" srcId="{446921E1-008E-43D3-B85D-3E5763B55B13}" destId="{C4218A5C-5484-4958-90AF-3C2E4D5C884F}" srcOrd="0" destOrd="0" presId="urn:microsoft.com/office/officeart/2005/8/layout/hProcess9"/>
    <dgm:cxn modelId="{85EC5A78-9991-4F6A-8918-951CE7EC036F}" type="presOf" srcId="{70F77BDE-8CB7-406B-90B4-986FBB22993F}" destId="{2D15CC53-E087-4808-91D7-0AE6E9F5B832}" srcOrd="0" destOrd="0" presId="urn:microsoft.com/office/officeart/2005/8/layout/hProcess9"/>
    <dgm:cxn modelId="{B2C3515A-BCAA-4B1C-A4C0-E7B52C1B5F58}" type="presOf" srcId="{321B56A9-3099-473B-9494-A2A08AE7471A}" destId="{0F28D87D-63FB-4F74-8DEF-CF82DA57438B}" srcOrd="0" destOrd="0" presId="urn:microsoft.com/office/officeart/2005/8/layout/hProcess9"/>
    <dgm:cxn modelId="{A679865A-D8E8-4309-9882-7B9F7C0CEE33}" type="presOf" srcId="{7EE881F1-F6C5-41A9-993D-2A8F70179D2E}" destId="{C4259F7E-CE98-4F92-98C9-2702D96128AC}" srcOrd="0" destOrd="0" presId="urn:microsoft.com/office/officeart/2005/8/layout/hProcess9"/>
    <dgm:cxn modelId="{0E82D883-831E-4E31-9182-0A17CC8D6A1F}" srcId="{70F77BDE-8CB7-406B-90B4-986FBB22993F}" destId="{7EE881F1-F6C5-41A9-993D-2A8F70179D2E}" srcOrd="8" destOrd="0" parTransId="{030BAEBE-5B00-42B7-BEC5-C4571D748EF9}" sibTransId="{D1C6284B-4A19-4382-B084-5940AC90E4E1}"/>
    <dgm:cxn modelId="{1394D38F-62BF-4E9B-819A-EB0B5DE8D567}" type="presOf" srcId="{76828149-23A8-4C7F-B590-3D89BC31C858}" destId="{B5198926-6D1F-4F06-8079-CF267CC0FFB3}" srcOrd="0" destOrd="0" presId="urn:microsoft.com/office/officeart/2005/8/layout/hProcess9"/>
    <dgm:cxn modelId="{3A8180AC-D2D9-4E8F-A12A-5C9298C0F32B}" srcId="{70F77BDE-8CB7-406B-90B4-986FBB22993F}" destId="{3A7900C0-61C5-4957-AC90-0D2C46055F27}" srcOrd="6" destOrd="0" parTransId="{576BD182-533B-4BE0-9343-40508F04B2B1}" sibTransId="{7AA9BA02-13D4-4435-94D0-0B4D08640020}"/>
    <dgm:cxn modelId="{C70D2AB3-4548-436F-BD7E-0E451F977004}" srcId="{70F77BDE-8CB7-406B-90B4-986FBB22993F}" destId="{FF335FC8-D7F7-4CA5-B660-3882A87FF819}" srcOrd="2" destOrd="0" parTransId="{05306228-4BD4-4DC0-89C3-7D1AEE58EE35}" sibTransId="{5CB62C61-86AD-4485-A330-E346EEDEEFAE}"/>
    <dgm:cxn modelId="{D0FB93B8-0D57-4B0C-8A81-3CD170970819}" type="presOf" srcId="{4B09FB50-462D-4396-974A-AFCC451EE47B}" destId="{B95A065A-37BB-497A-8561-A0EF59D4FC0A}" srcOrd="0" destOrd="0" presId="urn:microsoft.com/office/officeart/2005/8/layout/hProcess9"/>
    <dgm:cxn modelId="{E997F7C0-D5DA-4371-AF1D-AF1B17D50EC8}" srcId="{70F77BDE-8CB7-406B-90B4-986FBB22993F}" destId="{4B09FB50-462D-4396-974A-AFCC451EE47B}" srcOrd="1" destOrd="0" parTransId="{6D63F91E-43F9-4DCB-8C6F-3C549E6D8C49}" sibTransId="{E4D4B0E7-3E1D-4BB5-949D-9A0D8E810474}"/>
    <dgm:cxn modelId="{10C2E0C3-97BB-4589-861B-9F9ACC6982D6}" srcId="{70F77BDE-8CB7-406B-90B4-986FBB22993F}" destId="{321B56A9-3099-473B-9494-A2A08AE7471A}" srcOrd="5" destOrd="0" parTransId="{5E6C1C1C-4F40-4E74-8996-D4479BD70905}" sibTransId="{EEBF07B3-8F2D-4BAD-8A00-8919415831CD}"/>
    <dgm:cxn modelId="{C12DEFCC-C8A2-48A5-9EEC-951C1F2C161F}" type="presOf" srcId="{3A7900C0-61C5-4957-AC90-0D2C46055F27}" destId="{C3700871-FD93-4A20-812E-47BED602933E}" srcOrd="0" destOrd="0" presId="urn:microsoft.com/office/officeart/2005/8/layout/hProcess9"/>
    <dgm:cxn modelId="{5FEBD5D1-086A-4ABF-8FA7-04349E55D6C7}" srcId="{70F77BDE-8CB7-406B-90B4-986FBB22993F}" destId="{80F9A6F9-E0BA-4390-A9B0-76C437D9F7B9}" srcOrd="4" destOrd="0" parTransId="{667A644E-5067-40D5-8A35-BEF391B1F64D}" sibTransId="{BB0F50AF-407F-4C5C-9936-F87576563B15}"/>
    <dgm:cxn modelId="{7155B0E0-FFFF-401A-94B4-BCA057D45027}" srcId="{70F77BDE-8CB7-406B-90B4-986FBB22993F}" destId="{76828149-23A8-4C7F-B590-3D89BC31C858}" srcOrd="0" destOrd="0" parTransId="{464DC042-D5B6-42C8-8C41-11DD934A2682}" sibTransId="{617845A3-A7CB-4089-A44E-A229899D3F6A}"/>
    <dgm:cxn modelId="{5CD357F1-198F-4121-A867-6312ED47A47C}" srcId="{70F77BDE-8CB7-406B-90B4-986FBB22993F}" destId="{446921E1-008E-43D3-B85D-3E5763B55B13}" srcOrd="7" destOrd="0" parTransId="{A3F5760A-9989-4191-86A1-CD096FF765F3}" sibTransId="{5F17A854-1253-4BD8-801D-F6F9C93E1064}"/>
    <dgm:cxn modelId="{846D51FC-017E-4FB2-A90A-3243CE8FD293}" type="presOf" srcId="{D61F4CC1-700A-49E7-9FBB-41795B5DE3FA}" destId="{4A9823C5-60EC-4630-8546-25968DE4F27D}" srcOrd="0" destOrd="0" presId="urn:microsoft.com/office/officeart/2005/8/layout/hProcess9"/>
    <dgm:cxn modelId="{2626EEBA-DA74-4091-9A35-5A6FF86F0FBD}" type="presParOf" srcId="{2D15CC53-E087-4808-91D7-0AE6E9F5B832}" destId="{D1809AC9-CC97-4083-BD77-18C41668A7ED}" srcOrd="0" destOrd="0" presId="urn:microsoft.com/office/officeart/2005/8/layout/hProcess9"/>
    <dgm:cxn modelId="{48B8E511-A542-4C26-8C4F-740971B4A7A5}" type="presParOf" srcId="{2D15CC53-E087-4808-91D7-0AE6E9F5B832}" destId="{8A2BEEC8-3B41-450A-A747-40E34326782B}" srcOrd="1" destOrd="0" presId="urn:microsoft.com/office/officeart/2005/8/layout/hProcess9"/>
    <dgm:cxn modelId="{3C860B0B-B21E-461F-B195-41F705DDC43F}" type="presParOf" srcId="{8A2BEEC8-3B41-450A-A747-40E34326782B}" destId="{B5198926-6D1F-4F06-8079-CF267CC0FFB3}" srcOrd="0" destOrd="0" presId="urn:microsoft.com/office/officeart/2005/8/layout/hProcess9"/>
    <dgm:cxn modelId="{9991E03A-66EF-4BB4-AFE7-AE0C37DEB8C7}" type="presParOf" srcId="{8A2BEEC8-3B41-450A-A747-40E34326782B}" destId="{6D21837D-0FE4-40AB-A3A0-B658EB3951D5}" srcOrd="1" destOrd="0" presId="urn:microsoft.com/office/officeart/2005/8/layout/hProcess9"/>
    <dgm:cxn modelId="{72343A05-BD79-41ED-8D43-FD923EAB3A74}" type="presParOf" srcId="{8A2BEEC8-3B41-450A-A747-40E34326782B}" destId="{B95A065A-37BB-497A-8561-A0EF59D4FC0A}" srcOrd="2" destOrd="0" presId="urn:microsoft.com/office/officeart/2005/8/layout/hProcess9"/>
    <dgm:cxn modelId="{F5ED50C6-7229-4F92-A949-EB2785879FB3}" type="presParOf" srcId="{8A2BEEC8-3B41-450A-A747-40E34326782B}" destId="{BB7BE463-4B5E-4FD1-B390-EDF54593A5A3}" srcOrd="3" destOrd="0" presId="urn:microsoft.com/office/officeart/2005/8/layout/hProcess9"/>
    <dgm:cxn modelId="{63B017B0-9A80-4AAD-9AF1-063FBE0B7746}" type="presParOf" srcId="{8A2BEEC8-3B41-450A-A747-40E34326782B}" destId="{ECF067C1-565E-4B52-9767-F15315841D9A}" srcOrd="4" destOrd="0" presId="urn:microsoft.com/office/officeart/2005/8/layout/hProcess9"/>
    <dgm:cxn modelId="{CEDAC373-7A13-498D-973C-8EDD3F56D98D}" type="presParOf" srcId="{8A2BEEC8-3B41-450A-A747-40E34326782B}" destId="{D131BC6B-782E-4A55-868E-5D7E9CFD1C3D}" srcOrd="5" destOrd="0" presId="urn:microsoft.com/office/officeart/2005/8/layout/hProcess9"/>
    <dgm:cxn modelId="{9A79E8F2-9926-4B87-B4CE-906A74F118C7}" type="presParOf" srcId="{8A2BEEC8-3B41-450A-A747-40E34326782B}" destId="{4A9823C5-60EC-4630-8546-25968DE4F27D}" srcOrd="6" destOrd="0" presId="urn:microsoft.com/office/officeart/2005/8/layout/hProcess9"/>
    <dgm:cxn modelId="{03A2A18A-9753-4960-889E-8BA4E2E80F2F}" type="presParOf" srcId="{8A2BEEC8-3B41-450A-A747-40E34326782B}" destId="{DE69C3C1-F8D9-4A86-957E-B6262AAC0482}" srcOrd="7" destOrd="0" presId="urn:microsoft.com/office/officeart/2005/8/layout/hProcess9"/>
    <dgm:cxn modelId="{95701319-B038-4E41-957F-6015B05FD76E}" type="presParOf" srcId="{8A2BEEC8-3B41-450A-A747-40E34326782B}" destId="{61F92C26-A6CF-4A4B-9DE3-F70EF8FC7A3A}" srcOrd="8" destOrd="0" presId="urn:microsoft.com/office/officeart/2005/8/layout/hProcess9"/>
    <dgm:cxn modelId="{CFF879A4-EA4F-43B5-9F91-124ECC37BACA}" type="presParOf" srcId="{8A2BEEC8-3B41-450A-A747-40E34326782B}" destId="{B505A87A-F807-47C0-BCE9-41D361C126B2}" srcOrd="9" destOrd="0" presId="urn:microsoft.com/office/officeart/2005/8/layout/hProcess9"/>
    <dgm:cxn modelId="{C465C80D-FFE5-492C-B2BD-AA89F0156BE1}" type="presParOf" srcId="{8A2BEEC8-3B41-450A-A747-40E34326782B}" destId="{0F28D87D-63FB-4F74-8DEF-CF82DA57438B}" srcOrd="10" destOrd="0" presId="urn:microsoft.com/office/officeart/2005/8/layout/hProcess9"/>
    <dgm:cxn modelId="{02199F0D-9E9C-4794-A1D2-F0259E7EBACC}" type="presParOf" srcId="{8A2BEEC8-3B41-450A-A747-40E34326782B}" destId="{4E4381C8-105E-4968-8D42-423DCC3450E7}" srcOrd="11" destOrd="0" presId="urn:microsoft.com/office/officeart/2005/8/layout/hProcess9"/>
    <dgm:cxn modelId="{66E5C240-A058-4C1E-8A8A-7708767A7994}" type="presParOf" srcId="{8A2BEEC8-3B41-450A-A747-40E34326782B}" destId="{C3700871-FD93-4A20-812E-47BED602933E}" srcOrd="12" destOrd="0" presId="urn:microsoft.com/office/officeart/2005/8/layout/hProcess9"/>
    <dgm:cxn modelId="{F38E9E75-68A9-4F73-BB05-967FF78A2A64}" type="presParOf" srcId="{8A2BEEC8-3B41-450A-A747-40E34326782B}" destId="{30DCE7AD-DE0E-4CD4-941A-A11F39501FE5}" srcOrd="13" destOrd="0" presId="urn:microsoft.com/office/officeart/2005/8/layout/hProcess9"/>
    <dgm:cxn modelId="{3F58EA2D-D79D-499D-97DA-19F1518B5597}" type="presParOf" srcId="{8A2BEEC8-3B41-450A-A747-40E34326782B}" destId="{C4218A5C-5484-4958-90AF-3C2E4D5C884F}" srcOrd="14" destOrd="0" presId="urn:microsoft.com/office/officeart/2005/8/layout/hProcess9"/>
    <dgm:cxn modelId="{8588462D-ECA0-4C56-AB99-DD1B86CEC63B}" type="presParOf" srcId="{8A2BEEC8-3B41-450A-A747-40E34326782B}" destId="{9F0F56B6-94B1-411E-8977-B4C4936FC86A}" srcOrd="15" destOrd="0" presId="urn:microsoft.com/office/officeart/2005/8/layout/hProcess9"/>
    <dgm:cxn modelId="{41622B67-1DC2-4EF5-82CB-24061822D2DC}" type="presParOf" srcId="{8A2BEEC8-3B41-450A-A747-40E34326782B}" destId="{C4259F7E-CE98-4F92-98C9-2702D96128AC}" srcOrd="16" destOrd="0" presId="urn:microsoft.com/office/officeart/2005/8/layout/hProcess9"/>
    <dgm:cxn modelId="{A6911D29-9B6C-4906-B6EA-8E447D2402FB}" type="presParOf" srcId="{8A2BEEC8-3B41-450A-A747-40E34326782B}" destId="{8FA685A7-E9DC-4C7B-BC6D-454094D464B2}" srcOrd="17" destOrd="0" presId="urn:microsoft.com/office/officeart/2005/8/layout/hProcess9"/>
    <dgm:cxn modelId="{EF5C8D4E-8D25-4CD0-B4AA-C6823EF4FFE2}" type="presParOf" srcId="{8A2BEEC8-3B41-450A-A747-40E34326782B}" destId="{60A01229-3A2D-4ACB-9905-A03B5E00E3F1}" srcOrd="1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09AC9-CC97-4083-BD77-18C41668A7ED}">
      <dsp:nvSpPr>
        <dsp:cNvPr id="0" name=""/>
        <dsp:cNvSpPr/>
      </dsp:nvSpPr>
      <dsp:spPr>
        <a:xfrm>
          <a:off x="558032" y="0"/>
          <a:ext cx="6324373" cy="188693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98926-6D1F-4F06-8079-CF267CC0FFB3}">
      <dsp:nvSpPr>
        <dsp:cNvPr id="0" name=""/>
        <dsp:cNvSpPr/>
      </dsp:nvSpPr>
      <dsp:spPr>
        <a:xfrm>
          <a:off x="2179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Data acquisition</a:t>
          </a:r>
          <a:endParaRPr lang="en-US" sz="900" kern="1200"/>
        </a:p>
      </dsp:txBody>
      <dsp:txXfrm>
        <a:off x="36691" y="600593"/>
        <a:ext cx="637963" cy="685750"/>
      </dsp:txXfrm>
    </dsp:sp>
    <dsp:sp modelId="{B95A065A-37BB-497A-8561-A0EF59D4FC0A}">
      <dsp:nvSpPr>
        <dsp:cNvPr id="0" name=""/>
        <dsp:cNvSpPr/>
      </dsp:nvSpPr>
      <dsp:spPr>
        <a:xfrm>
          <a:off x="749856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EDA</a:t>
          </a:r>
        </a:p>
      </dsp:txBody>
      <dsp:txXfrm>
        <a:off x="784368" y="600593"/>
        <a:ext cx="637963" cy="685750"/>
      </dsp:txXfrm>
    </dsp:sp>
    <dsp:sp modelId="{ECF067C1-565E-4B52-9767-F15315841D9A}">
      <dsp:nvSpPr>
        <dsp:cNvPr id="0" name=""/>
        <dsp:cNvSpPr/>
      </dsp:nvSpPr>
      <dsp:spPr>
        <a:xfrm>
          <a:off x="1497533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Event-driven edit spikes</a:t>
          </a:r>
          <a:endParaRPr lang="en-US" sz="900" kern="1200"/>
        </a:p>
      </dsp:txBody>
      <dsp:txXfrm>
        <a:off x="1532045" y="600593"/>
        <a:ext cx="637963" cy="685750"/>
      </dsp:txXfrm>
    </dsp:sp>
    <dsp:sp modelId="{4A9823C5-60EC-4630-8546-25968DE4F27D}">
      <dsp:nvSpPr>
        <dsp:cNvPr id="0" name=""/>
        <dsp:cNvSpPr/>
      </dsp:nvSpPr>
      <dsp:spPr>
        <a:xfrm>
          <a:off x="2245210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Text mining</a:t>
          </a:r>
        </a:p>
      </dsp:txBody>
      <dsp:txXfrm>
        <a:off x="2279722" y="600593"/>
        <a:ext cx="637963" cy="685750"/>
      </dsp:txXfrm>
    </dsp:sp>
    <dsp:sp modelId="{61F92C26-A6CF-4A4B-9DE3-F70EF8FC7A3A}">
      <dsp:nvSpPr>
        <dsp:cNvPr id="0" name=""/>
        <dsp:cNvSpPr/>
      </dsp:nvSpPr>
      <dsp:spPr>
        <a:xfrm>
          <a:off x="2992887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N-gram and TF-IDF</a:t>
          </a:r>
          <a:endParaRPr lang="en-US" sz="900" kern="1200"/>
        </a:p>
      </dsp:txBody>
      <dsp:txXfrm>
        <a:off x="3027399" y="600593"/>
        <a:ext cx="637963" cy="685750"/>
      </dsp:txXfrm>
    </dsp:sp>
    <dsp:sp modelId="{0F28D87D-63FB-4F74-8DEF-CF82DA57438B}">
      <dsp:nvSpPr>
        <dsp:cNvPr id="0" name=""/>
        <dsp:cNvSpPr/>
      </dsp:nvSpPr>
      <dsp:spPr>
        <a:xfrm>
          <a:off x="3740564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Comment Similarity Analysis</a:t>
          </a:r>
        </a:p>
      </dsp:txBody>
      <dsp:txXfrm>
        <a:off x="3775076" y="600593"/>
        <a:ext cx="637963" cy="685750"/>
      </dsp:txXfrm>
    </dsp:sp>
    <dsp:sp modelId="{C3700871-FD93-4A20-812E-47BED602933E}">
      <dsp:nvSpPr>
        <dsp:cNvPr id="0" name=""/>
        <dsp:cNvSpPr/>
      </dsp:nvSpPr>
      <dsp:spPr>
        <a:xfrm>
          <a:off x="4488241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VADER Sentiment Analysis</a:t>
          </a:r>
        </a:p>
      </dsp:txBody>
      <dsp:txXfrm>
        <a:off x="4522753" y="600593"/>
        <a:ext cx="637963" cy="685750"/>
      </dsp:txXfrm>
    </dsp:sp>
    <dsp:sp modelId="{C4218A5C-5484-4958-90AF-3C2E4D5C884F}">
      <dsp:nvSpPr>
        <dsp:cNvPr id="0" name=""/>
        <dsp:cNvSpPr/>
      </dsp:nvSpPr>
      <dsp:spPr>
        <a:xfrm>
          <a:off x="5235918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POS Tagging</a:t>
          </a:r>
        </a:p>
      </dsp:txBody>
      <dsp:txXfrm>
        <a:off x="5270430" y="600593"/>
        <a:ext cx="637963" cy="685750"/>
      </dsp:txXfrm>
    </dsp:sp>
    <dsp:sp modelId="{C4259F7E-CE98-4F92-98C9-2702D96128AC}">
      <dsp:nvSpPr>
        <dsp:cNvPr id="0" name=""/>
        <dsp:cNvSpPr/>
      </dsp:nvSpPr>
      <dsp:spPr>
        <a:xfrm>
          <a:off x="5983595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LDA Topics</a:t>
          </a:r>
        </a:p>
      </dsp:txBody>
      <dsp:txXfrm>
        <a:off x="6018107" y="600593"/>
        <a:ext cx="637963" cy="685750"/>
      </dsp:txXfrm>
    </dsp:sp>
    <dsp:sp modelId="{60A01229-3A2D-4ACB-9905-A03B5E00E3F1}">
      <dsp:nvSpPr>
        <dsp:cNvPr id="0" name=""/>
        <dsp:cNvSpPr/>
      </dsp:nvSpPr>
      <dsp:spPr>
        <a:xfrm>
          <a:off x="6731272" y="566081"/>
          <a:ext cx="706987" cy="75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rial"/>
            </a:rPr>
            <a:t>Raid Keyword Analysis</a:t>
          </a:r>
          <a:endParaRPr lang="en-US" sz="900" kern="1200"/>
        </a:p>
      </dsp:txBody>
      <dsp:txXfrm>
        <a:off x="6765784" y="600593"/>
        <a:ext cx="637963" cy="685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4DF597F0-FE66-B6BA-E6D5-B73A3F89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F3F59495-75B3-C279-885F-A90EC9502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C5EB1450-01C3-0CC8-A687-CD68E77658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914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DA0AF2FF-6164-D4E7-9D09-1B3350D1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5F55D726-D76B-FF6E-338E-D9168EDF7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8A6CB0D9-F4DE-C555-753E-06716B7188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414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00986456-DD6B-D704-9480-2908FE5B9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C492E2AF-2606-4EA1-51B9-4C65181AC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BE295DDC-E069-E7A5-60FC-3C1E30E70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2848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E4CC5593-8753-6776-362A-33BE141E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A15722F3-7044-65F7-E4C6-0C608AC16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6FE0B52C-90D0-B736-4F62-501B77BA5E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7991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CB482389-05D5-7C62-B520-E82AA5DB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EA0AC897-9B3C-82CE-BF5D-77B479532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BEB2FE30-57B2-7AA7-3FA3-DC8FFCFE4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>
                <a:solidFill>
                  <a:srgbClr val="D4D4D4"/>
                </a:solidFill>
                <a:highlight>
                  <a:srgbClr val="282A2C"/>
                </a:highlight>
              </a:rPr>
              <a:t>Analyze at what points comments are most negative and if they indicate times of vandalism</a:t>
            </a:r>
            <a:endParaRPr lang="en-US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5993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646E664D-9C39-919E-FCCE-521E8BE3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AB050D53-20E5-539B-1A70-4DFE1794F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62F5BF19-AFCC-EFA5-E0CF-68D3B0FEA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992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C52A9B12-7FBB-4BBA-2110-0FBE8A38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062FD3BD-9045-1C6A-46C7-498771AB5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10EE2602-AA8E-DC94-480F-AEACBD0C5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638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80A8870E-12AF-CDE1-6C68-B6908945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BC158128-997D-3C0E-8309-F32362E6B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3BE35CBD-421B-7208-8383-6CC7EBB73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868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4733E5EA-CD37-F4FF-A356-043196BE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BADF8618-D9BB-FFB7-2D58-6699EC17D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3D178ABD-B288-58D5-A5CB-6935B8902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438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1D0F8722-62B2-655A-3D03-57C490ECC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A8A9DA29-5A42-15AE-9656-2980CAF54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3243590B-318B-1EBF-BB4B-CE4BF9A3C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2751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B40E4CBE-6ABF-597D-EA6D-F638B541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68D04D24-66C9-CADF-D63A-49AE2EE5F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1F27E20C-C8F0-A6C8-3246-3D898D847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949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E346813E-FEF1-A510-B233-7CE45702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FAE51AD1-19D3-6CC3-C09F-C39BB8906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80705F86-3ED7-ED5D-285F-5D6FBDD53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994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397056D6-9D0B-A347-B925-C17EB368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3EA1FDF8-7254-539F-C737-D9626687F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1353D3B9-D544-DF2F-A733-2CDB94F7D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73397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F4083C0E-5599-3149-BC4E-1DC191828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592E403D-B204-1293-24D9-F5C97260D5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32A21158-00C6-7E90-71BA-DC617F70F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565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AF1FA3E3-A5AF-8AFD-1598-AA13E321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7A956E90-5D5D-3588-1D0B-BD431BEB4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0047439B-2F5B-0C80-3DF0-104EE17C6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267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89E16397-A0F9-E6E1-A843-9A6F68B3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4BECDA41-4EC4-F484-1BFB-6D29C5D65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063FFBC4-F73D-F8C5-530E-C43243DC3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4057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C4BD1CE0-978B-B1FE-6326-B4FAF5B9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1d838b627_4_84:notes">
            <a:extLst>
              <a:ext uri="{FF2B5EF4-FFF2-40B4-BE49-F238E27FC236}">
                <a16:creationId xmlns:a16="http://schemas.microsoft.com/office/drawing/2014/main" id="{30DAD76B-67EF-1F29-F436-EF3E498626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1d838b627_4_84:notes">
            <a:extLst>
              <a:ext uri="{FF2B5EF4-FFF2-40B4-BE49-F238E27FC236}">
                <a16:creationId xmlns:a16="http://schemas.microsoft.com/office/drawing/2014/main" id="{755B2521-56C3-D4EE-065D-98A0E25392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1848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D2B979F5-1C9C-1969-3B49-919FC2B5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1d838b627_4_84:notes">
            <a:extLst>
              <a:ext uri="{FF2B5EF4-FFF2-40B4-BE49-F238E27FC236}">
                <a16:creationId xmlns:a16="http://schemas.microsoft.com/office/drawing/2014/main" id="{C75FF3A2-CBC7-FF3F-7213-65C74FB79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1d838b627_4_84:notes">
            <a:extLst>
              <a:ext uri="{FF2B5EF4-FFF2-40B4-BE49-F238E27FC236}">
                <a16:creationId xmlns:a16="http://schemas.microsoft.com/office/drawing/2014/main" id="{D3F12FDC-35E5-3EBA-AAB7-5D4296E382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7559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FF8C2B80-4EB4-2367-EF32-4D3FD197D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25874516-8AE9-CBA7-21B2-F1F967676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54EDE9E8-DE78-6246-064C-493717F04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32960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87024C28-DF79-2F91-4E40-F429833C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1F66433C-E8D6-FCF2-5304-282F6E662F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C398788B-6AB1-46BD-882F-39CD183A4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389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D86120FD-5220-4F04-5646-63141249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1d838b627_4_84:notes">
            <a:extLst>
              <a:ext uri="{FF2B5EF4-FFF2-40B4-BE49-F238E27FC236}">
                <a16:creationId xmlns:a16="http://schemas.microsoft.com/office/drawing/2014/main" id="{4D805771-57DA-5A93-8C79-8C749521C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1d838b627_4_84:notes">
            <a:extLst>
              <a:ext uri="{FF2B5EF4-FFF2-40B4-BE49-F238E27FC236}">
                <a16:creationId xmlns:a16="http://schemas.microsoft.com/office/drawing/2014/main" id="{BFD91A0D-3A84-F033-D8D1-919206BC5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6651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84598713-851C-7E71-C97D-09021266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1d838b627_4_84:notes">
            <a:extLst>
              <a:ext uri="{FF2B5EF4-FFF2-40B4-BE49-F238E27FC236}">
                <a16:creationId xmlns:a16="http://schemas.microsoft.com/office/drawing/2014/main" id="{5E94F04E-6E2F-F23C-097D-ECCD0C2BC3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1d838b627_4_84:notes">
            <a:extLst>
              <a:ext uri="{FF2B5EF4-FFF2-40B4-BE49-F238E27FC236}">
                <a16:creationId xmlns:a16="http://schemas.microsoft.com/office/drawing/2014/main" id="{ECCE866E-980C-C9EF-51D1-A35CF44FB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590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E7AAB90A-6BB5-71CE-009F-1037AA5B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1d838b627_4_84:notes">
            <a:extLst>
              <a:ext uri="{FF2B5EF4-FFF2-40B4-BE49-F238E27FC236}">
                <a16:creationId xmlns:a16="http://schemas.microsoft.com/office/drawing/2014/main" id="{59767130-E12F-BCAA-0F08-553B0D1F5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1d838b627_4_84:notes">
            <a:extLst>
              <a:ext uri="{FF2B5EF4-FFF2-40B4-BE49-F238E27FC236}">
                <a16:creationId xmlns:a16="http://schemas.microsoft.com/office/drawing/2014/main" id="{EBC35D82-2097-441E-C1DD-03F5D711A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6739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76A759C0-D5F9-3973-9765-612486BF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e1d838b627_4_84:notes">
            <a:extLst>
              <a:ext uri="{FF2B5EF4-FFF2-40B4-BE49-F238E27FC236}">
                <a16:creationId xmlns:a16="http://schemas.microsoft.com/office/drawing/2014/main" id="{0D6E58F0-1AA4-03E6-7CC1-30158B463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e1d838b627_4_84:notes">
            <a:extLst>
              <a:ext uri="{FF2B5EF4-FFF2-40B4-BE49-F238E27FC236}">
                <a16:creationId xmlns:a16="http://schemas.microsoft.com/office/drawing/2014/main" id="{7E8C0C1F-25AD-11E4-D78B-FA79288A3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21975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D5D46007-6830-F181-BD1D-90B42DBA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F0BF3321-55EF-EA09-791D-444174202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DB2A83A3-B133-ADF5-F394-9158E4377B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3801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C9261AE6-6774-0FDF-8ED8-00EC4E3E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0E65B2AE-795A-5CAC-F1F7-E01EEDB3B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8D1488AA-48D1-C144-0845-2BF09979D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1311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9EB4344C-A0E5-4B04-8C7A-5335B62E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e1d838b627_4_0:notes">
            <a:extLst>
              <a:ext uri="{FF2B5EF4-FFF2-40B4-BE49-F238E27FC236}">
                <a16:creationId xmlns:a16="http://schemas.microsoft.com/office/drawing/2014/main" id="{93A49FFE-AEE2-7E8E-70A0-9861A7EF8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e1d838b627_4_0:notes">
            <a:extLst>
              <a:ext uri="{FF2B5EF4-FFF2-40B4-BE49-F238E27FC236}">
                <a16:creationId xmlns:a16="http://schemas.microsoft.com/office/drawing/2014/main" id="{9BD7B641-01C6-E801-D613-DE133E273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2232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A3DFB410-4817-FD72-A0E7-4E871E49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1d838b627_4_38:notes">
            <a:extLst>
              <a:ext uri="{FF2B5EF4-FFF2-40B4-BE49-F238E27FC236}">
                <a16:creationId xmlns:a16="http://schemas.microsoft.com/office/drawing/2014/main" id="{C971BF18-E65C-EE8F-1051-AC4EA84548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1d838b627_4_38:notes">
            <a:extLst>
              <a:ext uri="{FF2B5EF4-FFF2-40B4-BE49-F238E27FC236}">
                <a16:creationId xmlns:a16="http://schemas.microsoft.com/office/drawing/2014/main" id="{EF5A9AE1-1456-489E-305E-FAECB9757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09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" name="Google Shape;10;p2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28600" y="1854000"/>
            <a:ext cx="5257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28600" y="4483800"/>
            <a:ext cx="37890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6341100" y="1006750"/>
            <a:ext cx="2574000" cy="3908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0" name="Google Shape;20;p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" name="Google Shape;21;p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>
            <a:spLocks noGrp="1"/>
          </p:cNvSpPr>
          <p:nvPr>
            <p:ph type="pic" idx="3"/>
          </p:nvPr>
        </p:nvSpPr>
        <p:spPr>
          <a:xfrm>
            <a:off x="228600" y="1006750"/>
            <a:ext cx="2574000" cy="390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30" name="Google Shape;30;p4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1" name="Google Shape;31;p4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32" name="Google Shape;32;p4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39" name="Google Shape;39;p5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0" name="Google Shape;40;p5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41" name="Google Shape;41;p5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" name="Google Shape;42;p5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228603" y="1637325"/>
            <a:ext cx="394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228603" y="2985076"/>
            <a:ext cx="394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228603" y="1992223"/>
            <a:ext cx="3941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228603" y="3339975"/>
            <a:ext cx="3941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>
            <a:spLocks noGrp="1"/>
          </p:cNvSpPr>
          <p:nvPr>
            <p:ph type="pic" idx="5"/>
          </p:nvPr>
        </p:nvSpPr>
        <p:spPr>
          <a:xfrm>
            <a:off x="5319600" y="1350900"/>
            <a:ext cx="3595500" cy="356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6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52" name="Google Shape;52;p6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53" name="Google Shape;53;p6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54" name="Google Shape;54;p6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" name="Google Shape;55;p6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60" name="Google Shape;60;p7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1" name="Google Shape;61;p7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62" name="Google Shape;62;p7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64" name="Google Shape;64;p7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8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70" name="Google Shape;70;p8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1" name="Google Shape;71;p8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9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78" name="Google Shape;78;p9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9" name="Google Shape;79;p9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80" name="Google Shape;80;p9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2" name="Google Shape;82;p9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83" name="Google Shape;83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228600" y="4176000"/>
            <a:ext cx="26580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1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91" name="Google Shape;91;p11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2" name="Google Shape;92;p11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93" name="Google Shape;93;p11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" name="Google Shape;94;p11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5" name="Google Shape;95;p11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96" name="Google Shape;9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7" name="Google Shape;97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and description">
  <p:cSld name="BLANK_1_1_1_1_2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1" name="Google Shape;101;p1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2" name="Google Shape;102;p1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03" name="Google Shape;103;p1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228600" y="4338900"/>
            <a:ext cx="8686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6193193" y="443975"/>
            <a:ext cx="2196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"/>
          </p:nvPr>
        </p:nvSpPr>
        <p:spPr>
          <a:xfrm>
            <a:off x="6193193" y="925221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3"/>
          </p:nvPr>
        </p:nvSpPr>
        <p:spPr>
          <a:xfrm>
            <a:off x="6193193" y="1887713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6193193" y="3331450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5"/>
          </p:nvPr>
        </p:nvSpPr>
        <p:spPr>
          <a:xfrm>
            <a:off x="6193193" y="2850204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6"/>
          </p:nvPr>
        </p:nvSpPr>
        <p:spPr>
          <a:xfrm>
            <a:off x="6193193" y="1406467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7"/>
          </p:nvPr>
        </p:nvSpPr>
        <p:spPr>
          <a:xfrm>
            <a:off x="6193193" y="2368958"/>
            <a:ext cx="21930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8" hasCustomPrompt="1"/>
          </p:nvPr>
        </p:nvSpPr>
        <p:spPr>
          <a:xfrm>
            <a:off x="8462400" y="1887554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9" hasCustomPrompt="1"/>
          </p:nvPr>
        </p:nvSpPr>
        <p:spPr>
          <a:xfrm>
            <a:off x="8462400" y="924968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13" hasCustomPrompt="1"/>
          </p:nvPr>
        </p:nvSpPr>
        <p:spPr>
          <a:xfrm>
            <a:off x="8462400" y="2368846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4" hasCustomPrompt="1"/>
          </p:nvPr>
        </p:nvSpPr>
        <p:spPr>
          <a:xfrm>
            <a:off x="8462400" y="2850139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15" hasCustomPrompt="1"/>
          </p:nvPr>
        </p:nvSpPr>
        <p:spPr>
          <a:xfrm>
            <a:off x="8462400" y="443975"/>
            <a:ext cx="453000" cy="310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IBM Plex Mono"/>
              <a:buNone/>
              <a:defRPr sz="96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16" hasCustomPrompt="1"/>
          </p:nvPr>
        </p:nvSpPr>
        <p:spPr>
          <a:xfrm>
            <a:off x="8462400" y="1406261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IBM Plex Mono"/>
              <a:buNone/>
              <a:defRPr sz="62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17" hasCustomPrompt="1"/>
          </p:nvPr>
        </p:nvSpPr>
        <p:spPr>
          <a:xfrm>
            <a:off x="8462400" y="3331432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8"/>
          </p:nvPr>
        </p:nvSpPr>
        <p:spPr>
          <a:xfrm>
            <a:off x="6189850" y="3812700"/>
            <a:ext cx="2196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19" hasCustomPrompt="1"/>
          </p:nvPr>
        </p:nvSpPr>
        <p:spPr>
          <a:xfrm>
            <a:off x="8462400" y="3812725"/>
            <a:ext cx="453000" cy="310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1600" b="0">
                <a:solidFill>
                  <a:schemeClr val="lt1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20"/>
          </p:nvPr>
        </p:nvSpPr>
        <p:spPr>
          <a:xfrm>
            <a:off x="3572100" y="443975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21"/>
          </p:nvPr>
        </p:nvSpPr>
        <p:spPr>
          <a:xfrm>
            <a:off x="3572100" y="925221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2"/>
          </p:nvPr>
        </p:nvSpPr>
        <p:spPr>
          <a:xfrm>
            <a:off x="3572100" y="1406468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23"/>
          </p:nvPr>
        </p:nvSpPr>
        <p:spPr>
          <a:xfrm>
            <a:off x="3572100" y="1887714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24"/>
          </p:nvPr>
        </p:nvSpPr>
        <p:spPr>
          <a:xfrm>
            <a:off x="3572100" y="2368961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25"/>
          </p:nvPr>
        </p:nvSpPr>
        <p:spPr>
          <a:xfrm>
            <a:off x="3572100" y="2850207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26"/>
          </p:nvPr>
        </p:nvSpPr>
        <p:spPr>
          <a:xfrm>
            <a:off x="3572100" y="3331454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27"/>
          </p:nvPr>
        </p:nvSpPr>
        <p:spPr>
          <a:xfrm>
            <a:off x="3572100" y="3812700"/>
            <a:ext cx="26211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5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42" name="Google Shape;142;p15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3" name="Google Shape;143;p15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44" name="Google Shape;144;p15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47" name="Google Shape;147;p15"/>
          <p:cNvSpPr txBox="1">
            <a:spLocks noGrp="1"/>
          </p:cNvSpPr>
          <p:nvPr>
            <p:ph type="title"/>
          </p:nvPr>
        </p:nvSpPr>
        <p:spPr>
          <a:xfrm>
            <a:off x="223825" y="3359100"/>
            <a:ext cx="6265800" cy="6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>
            <a:spLocks noGrp="1"/>
          </p:cNvSpPr>
          <p:nvPr>
            <p:ph type="pic" idx="2"/>
          </p:nvPr>
        </p:nvSpPr>
        <p:spPr>
          <a:xfrm>
            <a:off x="228600" y="633000"/>
            <a:ext cx="7299600" cy="26460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5"/>
          <p:cNvSpPr txBox="1">
            <a:spLocks noGrp="1"/>
          </p:cNvSpPr>
          <p:nvPr>
            <p:ph type="subTitle" idx="1"/>
          </p:nvPr>
        </p:nvSpPr>
        <p:spPr>
          <a:xfrm>
            <a:off x="223825" y="4011000"/>
            <a:ext cx="8691600" cy="7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52" name="Google Shape;152;p16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3" name="Google Shape;153;p16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54" name="Google Shape;154;p16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228600" y="4338900"/>
            <a:ext cx="8686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60" name="Google Shape;160;p17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1" name="Google Shape;161;p17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4" name="Google Shape;164;p17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18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68" name="Google Shape;168;p18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9" name="Google Shape;169;p18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228450" y="3529500"/>
            <a:ext cx="86871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1"/>
          </p:nvPr>
        </p:nvSpPr>
        <p:spPr>
          <a:xfrm>
            <a:off x="228450" y="1140300"/>
            <a:ext cx="24078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ubTitle" idx="2"/>
          </p:nvPr>
        </p:nvSpPr>
        <p:spPr>
          <a:xfrm>
            <a:off x="2938950" y="1140300"/>
            <a:ext cx="24078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ubTitle" idx="3"/>
          </p:nvPr>
        </p:nvSpPr>
        <p:spPr>
          <a:xfrm>
            <a:off x="5649451" y="1140300"/>
            <a:ext cx="24078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9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79" name="Google Shape;179;p19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0" name="Google Shape;180;p19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81" name="Google Shape;181;p19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84" name="Google Shape;184;p19"/>
          <p:cNvSpPr txBox="1">
            <a:spLocks noGrp="1"/>
          </p:cNvSpPr>
          <p:nvPr>
            <p:ph type="title"/>
          </p:nvPr>
        </p:nvSpPr>
        <p:spPr>
          <a:xfrm>
            <a:off x="228600" y="228596"/>
            <a:ext cx="868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1"/>
          </p:nvPr>
        </p:nvSpPr>
        <p:spPr>
          <a:xfrm>
            <a:off x="228600" y="1525075"/>
            <a:ext cx="42336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2"/>
          </p:nvPr>
        </p:nvSpPr>
        <p:spPr>
          <a:xfrm>
            <a:off x="4681650" y="1525075"/>
            <a:ext cx="42336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3"/>
          </p:nvPr>
        </p:nvSpPr>
        <p:spPr>
          <a:xfrm>
            <a:off x="228600" y="2758500"/>
            <a:ext cx="42336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4"/>
          </p:nvPr>
        </p:nvSpPr>
        <p:spPr>
          <a:xfrm>
            <a:off x="4681650" y="2758500"/>
            <a:ext cx="42336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5"/>
          </p:nvPr>
        </p:nvSpPr>
        <p:spPr>
          <a:xfrm>
            <a:off x="228600" y="3991925"/>
            <a:ext cx="42336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ubTitle" idx="6"/>
          </p:nvPr>
        </p:nvSpPr>
        <p:spPr>
          <a:xfrm>
            <a:off x="4681650" y="3991925"/>
            <a:ext cx="42336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9"/>
          <p:cNvSpPr txBox="1">
            <a:spLocks noGrp="1"/>
          </p:cNvSpPr>
          <p:nvPr>
            <p:ph type="subTitle" idx="7"/>
          </p:nvPr>
        </p:nvSpPr>
        <p:spPr>
          <a:xfrm>
            <a:off x="228600" y="1170175"/>
            <a:ext cx="4233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8"/>
          </p:nvPr>
        </p:nvSpPr>
        <p:spPr>
          <a:xfrm>
            <a:off x="4681650" y="1170175"/>
            <a:ext cx="4233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9"/>
          </p:nvPr>
        </p:nvSpPr>
        <p:spPr>
          <a:xfrm>
            <a:off x="228600" y="3637025"/>
            <a:ext cx="4233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13"/>
          </p:nvPr>
        </p:nvSpPr>
        <p:spPr>
          <a:xfrm>
            <a:off x="228600" y="2403600"/>
            <a:ext cx="4233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4"/>
          </p:nvPr>
        </p:nvSpPr>
        <p:spPr>
          <a:xfrm>
            <a:off x="4681650" y="2403599"/>
            <a:ext cx="4233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15"/>
          </p:nvPr>
        </p:nvSpPr>
        <p:spPr>
          <a:xfrm>
            <a:off x="4681650" y="3637023"/>
            <a:ext cx="4233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 Medium"/>
              <a:buNone/>
              <a:defRPr sz="24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0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99" name="Google Shape;199;p20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0" name="Google Shape;200;p20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01" name="Google Shape;201;p20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04" name="Google Shape;204;p20"/>
          <p:cNvSpPr txBox="1">
            <a:spLocks noGrp="1"/>
          </p:cNvSpPr>
          <p:nvPr>
            <p:ph type="title"/>
          </p:nvPr>
        </p:nvSpPr>
        <p:spPr>
          <a:xfrm>
            <a:off x="228600" y="43425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title" idx="2" hasCustomPrompt="1"/>
          </p:nvPr>
        </p:nvSpPr>
        <p:spPr>
          <a:xfrm>
            <a:off x="228719" y="829050"/>
            <a:ext cx="2399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2200" b="0">
                <a:solidFill>
                  <a:schemeClr val="dk2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1"/>
          </p:nvPr>
        </p:nvSpPr>
        <p:spPr>
          <a:xfrm>
            <a:off x="228600" y="1276050"/>
            <a:ext cx="2399700" cy="55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title" idx="3" hasCustomPrompt="1"/>
          </p:nvPr>
        </p:nvSpPr>
        <p:spPr>
          <a:xfrm>
            <a:off x="228719" y="3313350"/>
            <a:ext cx="2399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2200" b="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4"/>
          </p:nvPr>
        </p:nvSpPr>
        <p:spPr>
          <a:xfrm>
            <a:off x="228600" y="3760350"/>
            <a:ext cx="2399700" cy="55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title" idx="5" hasCustomPrompt="1"/>
          </p:nvPr>
        </p:nvSpPr>
        <p:spPr>
          <a:xfrm>
            <a:off x="228719" y="2071200"/>
            <a:ext cx="2399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2200" b="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6"/>
          </p:nvPr>
        </p:nvSpPr>
        <p:spPr>
          <a:xfrm>
            <a:off x="228600" y="2518200"/>
            <a:ext cx="2399700" cy="55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>
            <a:spLocks noGrp="1"/>
          </p:cNvSpPr>
          <p:nvPr>
            <p:ph type="pic" idx="7"/>
          </p:nvPr>
        </p:nvSpPr>
        <p:spPr>
          <a:xfrm>
            <a:off x="3741600" y="633000"/>
            <a:ext cx="5173800" cy="362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1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14" name="Google Shape;214;p21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15" name="Google Shape;215;p21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8" name="Google Shape;218;p21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>
            <a:off x="228597" y="2513700"/>
            <a:ext cx="3550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subTitle" idx="1"/>
          </p:nvPr>
        </p:nvSpPr>
        <p:spPr>
          <a:xfrm>
            <a:off x="4400375" y="2513700"/>
            <a:ext cx="44481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400375" y="3978450"/>
            <a:ext cx="444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2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24" name="Google Shape;224;p22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25" name="Google Shape;225;p22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6" name="Google Shape;226;p22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7" name="Google Shape;227;p22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8" name="Google Shape;228;p22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3"/>
          <p:cNvGrpSpPr/>
          <p:nvPr/>
        </p:nvGrpSpPr>
        <p:grpSpPr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31" name="Google Shape;231;p23"/>
            <p:cNvSpPr/>
            <p:nvPr/>
          </p:nvSpPr>
          <p:spPr>
            <a:xfrm>
              <a:off x="100" y="0"/>
              <a:ext cx="9144000" cy="228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32" name="Google Shape;232;p23"/>
            <p:cNvGrpSpPr/>
            <p:nvPr/>
          </p:nvGrpSpPr>
          <p:grpSpPr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33" name="Google Shape;233;p23"/>
              <p:cNvSpPr/>
              <p:nvPr/>
            </p:nvSpPr>
            <p:spPr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4" name="Google Shape;234;p23"/>
              <p:cNvSpPr/>
              <p:nvPr/>
            </p:nvSpPr>
            <p:spPr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5" name="Google Shape;235;p23"/>
              <p:cNvSpPr/>
              <p:nvPr/>
            </p:nvSpPr>
            <p:spPr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98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2026_Iran_war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n.wikipedia.org/wiki/2026_in_science" TargetMode="External"/><Relationship Id="rId5" Type="http://schemas.openxmlformats.org/officeDocument/2006/relationships/hyperlink" Target="https://en.wikipedia.org/wiki/Artemis_II" TargetMode="External"/><Relationship Id="rId4" Type="http://schemas.openxmlformats.org/officeDocument/2006/relationships/hyperlink" Target="https://en.wikipedia.org/wiki/Donald_Trump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228600" y="4483800"/>
            <a:ext cx="440436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By Collin Dickerson, Minh Trinh, Han Truong</a:t>
            </a:r>
            <a:endParaRPr lang="en-US"/>
          </a:p>
        </p:txBody>
      </p:sp>
      <p:sp>
        <p:nvSpPr>
          <p:cNvPr id="252" name="Google Shape;252;p28"/>
          <p:cNvSpPr txBox="1">
            <a:spLocks noGrp="1"/>
          </p:cNvSpPr>
          <p:nvPr>
            <p:ph type="ctrTitle"/>
          </p:nvPr>
        </p:nvSpPr>
        <p:spPr>
          <a:xfrm>
            <a:off x="228600" y="1757408"/>
            <a:ext cx="5257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INFO 440</a:t>
            </a:r>
            <a:br>
              <a:rPr lang="en"/>
            </a:br>
            <a:r>
              <a:rPr lang="en" sz="3600" b="0"/>
              <a:t>Wikipedia Edit Histories: How is Truth or Belief “Drafted”?</a:t>
            </a:r>
            <a:endParaRPr lang="en" sz="3600"/>
          </a:p>
        </p:txBody>
      </p:sp>
      <p:cxnSp>
        <p:nvCxnSpPr>
          <p:cNvPr id="253" name="Google Shape;253;p28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Placeholder 5" descr="Wikipedia logo PNG transparent image download, size: 1200x1200px">
            <a:extLst>
              <a:ext uri="{FF2B5EF4-FFF2-40B4-BE49-F238E27FC236}">
                <a16:creationId xmlns:a16="http://schemas.microsoft.com/office/drawing/2014/main" id="{035A6BEE-C6B9-C11C-D988-D29AC6B233B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7059" r="17059"/>
          <a:stretch/>
        </p:blipFill>
        <p:spPr>
          <a:xfrm>
            <a:off x="5833994" y="1006750"/>
            <a:ext cx="2574000" cy="39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>
            <a:spLocks noGrp="1"/>
          </p:cNvSpPr>
          <p:nvPr>
            <p:ph type="title"/>
          </p:nvPr>
        </p:nvSpPr>
        <p:spPr>
          <a:xfrm>
            <a:off x="228600" y="4338900"/>
            <a:ext cx="8686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 b="0"/>
          </a:p>
        </p:txBody>
      </p:sp>
      <p:sp>
        <p:nvSpPr>
          <p:cNvPr id="307" name="Google Shape;307;p30"/>
          <p:cNvSpPr txBox="1">
            <a:spLocks noGrp="1"/>
          </p:cNvSpPr>
          <p:nvPr>
            <p:ph type="subTitle" idx="1"/>
          </p:nvPr>
        </p:nvSpPr>
        <p:spPr>
          <a:xfrm>
            <a:off x="3264769" y="1281320"/>
            <a:ext cx="4768566" cy="8189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en" sz="3200"/>
              <a:t>Project Overview</a:t>
            </a:r>
            <a:endParaRPr lang="en-US"/>
          </a:p>
        </p:txBody>
      </p:sp>
      <p:sp>
        <p:nvSpPr>
          <p:cNvPr id="315" name="Google Shape;315;p30"/>
          <p:cNvSpPr txBox="1">
            <a:spLocks noGrp="1"/>
          </p:cNvSpPr>
          <p:nvPr>
            <p:ph type="title" idx="9"/>
          </p:nvPr>
        </p:nvSpPr>
        <p:spPr>
          <a:xfrm>
            <a:off x="2119556" y="2092770"/>
            <a:ext cx="789982" cy="8431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title" idx="15"/>
          </p:nvPr>
        </p:nvSpPr>
        <p:spPr>
          <a:xfrm>
            <a:off x="2119556" y="1248797"/>
            <a:ext cx="789982" cy="8505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" name="Google Shape;319;p30"/>
          <p:cNvSpPr txBox="1">
            <a:spLocks noGrp="1"/>
          </p:cNvSpPr>
          <p:nvPr>
            <p:ph type="title" idx="16"/>
          </p:nvPr>
        </p:nvSpPr>
        <p:spPr>
          <a:xfrm>
            <a:off x="2119556" y="2937042"/>
            <a:ext cx="789982" cy="8431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323" name="Google Shape;323;p30"/>
          <p:cNvCxnSpPr/>
          <p:nvPr/>
        </p:nvCxnSpPr>
        <p:spPr>
          <a:xfrm>
            <a:off x="0" y="49149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307;p30">
            <a:extLst>
              <a:ext uri="{FF2B5EF4-FFF2-40B4-BE49-F238E27FC236}">
                <a16:creationId xmlns:a16="http://schemas.microsoft.com/office/drawing/2014/main" id="{4DB4888D-5EDB-706E-2744-8A0AC5BEAAB5}"/>
              </a:ext>
            </a:extLst>
          </p:cNvPr>
          <p:cNvSpPr txBox="1">
            <a:spLocks/>
          </p:cNvSpPr>
          <p:nvPr/>
        </p:nvSpPr>
        <p:spPr>
          <a:xfrm>
            <a:off x="3264233" y="2101812"/>
            <a:ext cx="4768566" cy="83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pPr marL="0" indent="0" algn="l"/>
            <a:r>
              <a:rPr lang="en" sz="3200"/>
              <a:t>Methods &amp; Findings</a:t>
            </a:r>
            <a:endParaRPr lang="en" sz="3200" dirty="0"/>
          </a:p>
        </p:txBody>
      </p:sp>
      <p:sp>
        <p:nvSpPr>
          <p:cNvPr id="13" name="Google Shape;307;p30">
            <a:extLst>
              <a:ext uri="{FF2B5EF4-FFF2-40B4-BE49-F238E27FC236}">
                <a16:creationId xmlns:a16="http://schemas.microsoft.com/office/drawing/2014/main" id="{80541873-FE09-18FC-6680-BD7C8133886C}"/>
              </a:ext>
            </a:extLst>
          </p:cNvPr>
          <p:cNvSpPr txBox="1">
            <a:spLocks/>
          </p:cNvSpPr>
          <p:nvPr/>
        </p:nvSpPr>
        <p:spPr>
          <a:xfrm>
            <a:off x="3264233" y="2938938"/>
            <a:ext cx="4768566" cy="83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pace Grotesk Light"/>
              <a:buNone/>
              <a:defRPr sz="2000" b="0" i="0" u="none" strike="noStrike" cap="none">
                <a:solidFill>
                  <a:schemeClr val="dk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pPr marL="0" indent="0" algn="l"/>
            <a:r>
              <a:rPr lang="en" sz="3200"/>
              <a:t>Challenges &amp; </a:t>
            </a:r>
            <a:r>
              <a:rPr lang="en" sz="3200" err="1"/>
              <a:t>Outloo</a:t>
            </a:r>
            <a:r>
              <a:rPr lang="en" sz="3200" dirty="0"/>
              <a:t>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</a:p>
        </p:txBody>
      </p:sp>
      <p:sp>
        <p:nvSpPr>
          <p:cNvPr id="347" name="Google Shape;347;p32"/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4" name="Picture Placeholder 3" descr="Wikipedia logo PNG transparent image download, size: 1200x1200px">
            <a:extLst>
              <a:ext uri="{FF2B5EF4-FFF2-40B4-BE49-F238E27FC236}">
                <a16:creationId xmlns:a16="http://schemas.microsoft.com/office/drawing/2014/main" id="{BBFA798C-1577-54AE-B4E8-10AA0DBE02CE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7080" r="17080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F13307CF-CC04-FB8B-6B5E-5CC98AAD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AE01868B-7C02-5C42-0163-002E7801D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Overview - Motivation</a:t>
            </a:r>
            <a:endParaRPr lang="en-US"/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CB46DE1C-A8A3-0EB4-6216-FF924F306EAF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71;p34">
            <a:extLst>
              <a:ext uri="{FF2B5EF4-FFF2-40B4-BE49-F238E27FC236}">
                <a16:creationId xmlns:a16="http://schemas.microsoft.com/office/drawing/2014/main" id="{6B525C15-D508-8AB8-5E11-CC346FE744BE}"/>
              </a:ext>
            </a:extLst>
          </p:cNvPr>
          <p:cNvSpPr txBox="1">
            <a:spLocks/>
          </p:cNvSpPr>
          <p:nvPr/>
        </p:nvSpPr>
        <p:spPr>
          <a:xfrm>
            <a:off x="1288295" y="2570016"/>
            <a:ext cx="6570677" cy="63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/>
            <a:r>
              <a:rPr lang="en" sz="3200" b="1">
                <a:solidFill>
                  <a:schemeClr val="tx1"/>
                </a:solidFill>
              </a:rPr>
              <a:t>What does Wikipedia's edit history tell us about how communities find the truth?</a:t>
            </a:r>
            <a:endParaRPr lang="en-US" sz="2400"/>
          </a:p>
          <a:p>
            <a:pPr marL="0" indent="0"/>
            <a:endParaRPr lang="en" sz="3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16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C47D19E3-63A0-37CA-B02D-FC713DB6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FC2A0C14-9B24-4B87-7B8D-5AA451064E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Overview – Data and Roadmap</a:t>
            </a:r>
            <a:endParaRPr lang="en-US"/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FCEDB257-DF55-3D20-C330-1B95040CE92B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Subtitle 4">
            <a:extLst>
              <a:ext uri="{FF2B5EF4-FFF2-40B4-BE49-F238E27FC236}">
                <a16:creationId xmlns:a16="http://schemas.microsoft.com/office/drawing/2014/main" id="{2716C4CC-FBDE-CF0F-D9AB-0E14CF7C7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3" y="1072246"/>
            <a:ext cx="7434613" cy="2704257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buFont typeface="Arial"/>
              <a:buChar char="•"/>
            </a:pPr>
            <a:r>
              <a:rPr lang="en-US"/>
              <a:t>Source: </a:t>
            </a:r>
            <a:r>
              <a:rPr lang="en-US" b="0"/>
              <a:t>Wikipedia API</a:t>
            </a:r>
          </a:p>
          <a:p>
            <a:pPr marL="425450" indent="-285750">
              <a:buFont typeface="Arial"/>
              <a:buChar char="•"/>
            </a:pPr>
            <a:r>
              <a:rPr lang="en-US" dirty="0"/>
              <a:t>Timeframe: </a:t>
            </a:r>
            <a:r>
              <a:rPr lang="en-US" b="0" dirty="0"/>
              <a:t>Full historical data to identify peak traffic months</a:t>
            </a:r>
          </a:p>
          <a:p>
            <a:pPr>
              <a:buFont typeface="Arial"/>
              <a:buChar char="•"/>
            </a:pPr>
            <a:r>
              <a:rPr lang="en-US"/>
              <a:t>Articles Studied:</a:t>
            </a:r>
            <a:endParaRPr lang="en-US" b="0"/>
          </a:p>
          <a:p>
            <a:pPr lvl="1" algn="l">
              <a:buFont typeface="Arial"/>
              <a:buChar char="•"/>
            </a:pPr>
            <a:r>
              <a:rPr lang="en-US" sz="1600" b="0" i="1"/>
              <a:t>Socio-Political:</a:t>
            </a:r>
            <a:r>
              <a:rPr lang="en-US" sz="1600" b="0"/>
              <a:t> 2026 Iran War, 2026 Lebanon War, Donald Trump, Joe Biden, Hantavirus</a:t>
            </a:r>
            <a:endParaRPr lang="en-US" sz="1600"/>
          </a:p>
          <a:p>
            <a:pPr lvl="1" algn="l">
              <a:buFont typeface="Arial"/>
              <a:buChar char="•"/>
            </a:pPr>
            <a:r>
              <a:rPr lang="en-US" sz="1600" b="0" i="1"/>
              <a:t>Scientific/Cultural:</a:t>
            </a:r>
            <a:r>
              <a:rPr lang="en-US" sz="1600" b="0"/>
              <a:t> Artemis II, 2026 in Science, 2026 in Film</a:t>
            </a:r>
            <a:endParaRPr lang="en-US" sz="1600"/>
          </a:p>
          <a:p>
            <a:pPr marL="425450" indent="-285750">
              <a:buFont typeface="Arial"/>
              <a:buChar char="•"/>
            </a:pPr>
            <a:endParaRPr lang="en-US" b="0"/>
          </a:p>
          <a:p>
            <a:pPr marL="425450" indent="-285750">
              <a:buFont typeface="Arial"/>
              <a:buChar char="•"/>
            </a:pPr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9B896B7-B59C-77EC-5F8C-804587A962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8481876"/>
              </p:ext>
            </p:extLst>
          </p:nvPr>
        </p:nvGraphicFramePr>
        <p:xfrm>
          <a:off x="850964" y="2838892"/>
          <a:ext cx="7440439" cy="1886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117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7AC510A8-2954-6BA0-B2E8-F0E0861E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11F9D6C8-2951-EF00-4738-87F40FA68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Models &amp; Findings</a:t>
            </a:r>
            <a:endParaRPr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1C48B2AF-C477-D6FD-E31E-7B25C341725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5" name="Picture Placeholder 3" descr="Wikipedia logo PNG transparent image download, size: 1200x1200px">
            <a:extLst>
              <a:ext uri="{FF2B5EF4-FFF2-40B4-BE49-F238E27FC236}">
                <a16:creationId xmlns:a16="http://schemas.microsoft.com/office/drawing/2014/main" id="{F18F34C3-3746-DF23-C465-CFDE7E279E03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7080" r="17080"/>
          <a:stretch/>
        </p:blipFill>
        <p:spPr>
          <a:xfrm>
            <a:off x="228600" y="1006750"/>
            <a:ext cx="2574000" cy="390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534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A64264DD-2DF5-9BF5-3CE6-81485963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B03ADE20-0FE7-95FF-4A25-C079B73A1C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Methods – Edit Spikes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1339AB37-B47E-DDC5-3306-CD4914DD1264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70;p34">
            <a:extLst>
              <a:ext uri="{FF2B5EF4-FFF2-40B4-BE49-F238E27FC236}">
                <a16:creationId xmlns:a16="http://schemas.microsoft.com/office/drawing/2014/main" id="{6B7C2903-6CAD-90E4-EBDE-C6F434C7D317}"/>
              </a:ext>
            </a:extLst>
          </p:cNvPr>
          <p:cNvSpPr txBox="1">
            <a:spLocks/>
          </p:cNvSpPr>
          <p:nvPr/>
        </p:nvSpPr>
        <p:spPr>
          <a:xfrm>
            <a:off x="232352" y="1875145"/>
            <a:ext cx="3745681" cy="178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71450" indent="-171450">
              <a:buFont typeface="Arial,Sans-Serif"/>
              <a:buChar char="•"/>
            </a:pPr>
            <a:r>
              <a:rPr lang="en" sz="1600"/>
              <a:t>Edit</a:t>
            </a:r>
            <a:r>
              <a:rPr lang="en" sz="1600" dirty="0"/>
              <a:t> rate analysis in peak months</a:t>
            </a:r>
          </a:p>
          <a:p>
            <a:pPr marL="628650" lvl="1" indent="-171450" algn="l">
              <a:buFont typeface="Courier New"/>
              <a:buChar char="o"/>
            </a:pPr>
            <a:r>
              <a:rPr lang="en" sz="1600"/>
              <a:t>Examined major </a:t>
            </a:r>
            <a:r>
              <a:rPr lang="en" sz="1600" dirty="0"/>
              <a:t>edit rates</a:t>
            </a:r>
          </a:p>
          <a:p>
            <a:pPr marL="171450" indent="-171450">
              <a:buFont typeface="Arial,Sans-Serif"/>
              <a:buChar char="•"/>
            </a:pPr>
            <a:r>
              <a:rPr lang="en" sz="1600" dirty="0"/>
              <a:t>Identified spikes in visual analysis</a:t>
            </a:r>
          </a:p>
          <a:p>
            <a:pPr marL="628650" lvl="1" indent="-171450" algn="l">
              <a:buFont typeface="Arial,Sans-Serif"/>
              <a:buChar char="•"/>
            </a:pPr>
            <a:r>
              <a:rPr lang="en" sz="1600"/>
              <a:t>Hypothesized that secondary spikes indicated controversial topics/ vandalism</a:t>
            </a:r>
          </a:p>
        </p:txBody>
      </p:sp>
      <p:pic>
        <p:nvPicPr>
          <p:cNvPr id="5" name="Picture 4" descr="A graph of a graph with blue lines and orange dots&#10;&#10;AI-generated content may be incorrect.">
            <a:extLst>
              <a:ext uri="{FF2B5EF4-FFF2-40B4-BE49-F238E27FC236}">
                <a16:creationId xmlns:a16="http://schemas.microsoft.com/office/drawing/2014/main" id="{58EB330A-15E4-EEC2-181C-3BCE90347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643" y="844850"/>
            <a:ext cx="5104357" cy="1927190"/>
          </a:xfrm>
          <a:prstGeom prst="rect">
            <a:avLst/>
          </a:prstGeom>
        </p:spPr>
      </p:pic>
      <p:pic>
        <p:nvPicPr>
          <p:cNvPr id="8" name="Picture 7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95671F17-F93D-09A1-96DE-3D4297447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43" y="2769925"/>
            <a:ext cx="5104357" cy="19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6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654343BE-31ED-74FF-408A-E73914F4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D5DE2C5B-5AAA-FF39-85F8-B0F8BA2CED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Methods – VADER Sentiment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74B057FE-7F15-C6C0-91F2-E2F38D2011B0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4">
            <a:extLst>
              <a:ext uri="{FF2B5EF4-FFF2-40B4-BE49-F238E27FC236}">
                <a16:creationId xmlns:a16="http://schemas.microsoft.com/office/drawing/2014/main" id="{7B279E60-D036-BE19-0C0C-A24814A0A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8319" y="935212"/>
            <a:ext cx="3087361" cy="2704257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buFont typeface="Arial"/>
              <a:buChar char="•"/>
            </a:pPr>
            <a:endParaRPr lang="en-US" sz="1600"/>
          </a:p>
          <a:p>
            <a:pPr marL="425450" indent="-285750">
              <a:buFont typeface="Arial"/>
              <a:buChar char="•"/>
            </a:pPr>
            <a:endParaRPr lang="en-US" b="0"/>
          </a:p>
          <a:p>
            <a:pPr marL="425450" indent="-285750">
              <a:buFont typeface="Arial"/>
              <a:buChar char="•"/>
            </a:pPr>
            <a:endParaRPr lang="en-US"/>
          </a:p>
        </p:txBody>
      </p:sp>
      <p:pic>
        <p:nvPicPr>
          <p:cNvPr id="4" name="Picture 3" descr="A pie chart with numbers and a red circle&#10;&#10;AI-generated content may be incorrect.">
            <a:extLst>
              <a:ext uri="{FF2B5EF4-FFF2-40B4-BE49-F238E27FC236}">
                <a16:creationId xmlns:a16="http://schemas.microsoft.com/office/drawing/2014/main" id="{5EC66085-E726-CA27-6CB7-72A95FA90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0" y="846662"/>
            <a:ext cx="1747416" cy="1674744"/>
          </a:xfrm>
          <a:prstGeom prst="rect">
            <a:avLst/>
          </a:prstGeom>
        </p:spPr>
      </p:pic>
      <p:pic>
        <p:nvPicPr>
          <p:cNvPr id="5" name="Picture 4" descr="A green circle with red and orange triangles&#10;&#10;AI-generated content may be incorrect.">
            <a:extLst>
              <a:ext uri="{FF2B5EF4-FFF2-40B4-BE49-F238E27FC236}">
                <a16:creationId xmlns:a16="http://schemas.microsoft.com/office/drawing/2014/main" id="{4BAAF573-C45C-347A-01E0-A6072C6B6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78" y="2826830"/>
            <a:ext cx="1709455" cy="1742031"/>
          </a:xfrm>
          <a:prstGeom prst="rect">
            <a:avLst/>
          </a:prstGeom>
        </p:spPr>
      </p:pic>
      <p:pic>
        <p:nvPicPr>
          <p:cNvPr id="6" name="Picture 5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DDAE9952-4684-B1C7-4F92-B80F9956C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138" y="846662"/>
            <a:ext cx="1767021" cy="1681166"/>
          </a:xfrm>
          <a:prstGeom prst="rect">
            <a:avLst/>
          </a:prstGeom>
        </p:spPr>
      </p:pic>
      <p:pic>
        <p:nvPicPr>
          <p:cNvPr id="8" name="Picture 7" descr="A green and orange pie chart&#10;&#10;AI-generated content may be incorrect.">
            <a:extLst>
              <a:ext uri="{FF2B5EF4-FFF2-40B4-BE49-F238E27FC236}">
                <a16:creationId xmlns:a16="http://schemas.microsoft.com/office/drawing/2014/main" id="{B400C57F-FDD1-2978-D282-623A9282E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689" y="848632"/>
            <a:ext cx="1815917" cy="1681165"/>
          </a:xfrm>
          <a:prstGeom prst="rect">
            <a:avLst/>
          </a:prstGeom>
        </p:spPr>
      </p:pic>
      <p:sp>
        <p:nvSpPr>
          <p:cNvPr id="9" name="Subtitle 4">
            <a:extLst>
              <a:ext uri="{FF2B5EF4-FFF2-40B4-BE49-F238E27FC236}">
                <a16:creationId xmlns:a16="http://schemas.microsoft.com/office/drawing/2014/main" id="{02D2FC10-63B8-70D9-4A76-B99BA277225C}"/>
              </a:ext>
            </a:extLst>
          </p:cNvPr>
          <p:cNvSpPr txBox="1">
            <a:spLocks/>
          </p:cNvSpPr>
          <p:nvPr/>
        </p:nvSpPr>
        <p:spPr>
          <a:xfrm>
            <a:off x="5366022" y="1072246"/>
            <a:ext cx="3762422" cy="2910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425450" indent="-285750">
              <a:buFont typeface="Arial"/>
              <a:buChar char="•"/>
            </a:pPr>
            <a:r>
              <a:rPr lang="en-US" b="0"/>
              <a:t>Political articles show the highest negative sentiment</a:t>
            </a:r>
            <a:endParaRPr lang="en-US" sz="1600" b="0"/>
          </a:p>
          <a:p>
            <a:pPr marL="425450" indent="-285750">
              <a:buFont typeface="Arial"/>
              <a:buChar char="•"/>
            </a:pPr>
            <a:endParaRPr lang="en-US" b="0"/>
          </a:p>
          <a:p>
            <a:pPr marL="425450" indent="-285750">
              <a:buFont typeface="Arial"/>
              <a:buChar char="•"/>
            </a:pPr>
            <a:r>
              <a:rPr lang="en-US" b="0"/>
              <a:t>Scientific topics are more objective and procedural</a:t>
            </a:r>
          </a:p>
          <a:p>
            <a:pPr marL="425450" indent="-285750">
              <a:buFont typeface="Arial"/>
              <a:buChar char="•"/>
            </a:pPr>
            <a:endParaRPr lang="en-US" b="0"/>
          </a:p>
          <a:p>
            <a:pPr marL="425450" indent="-285750">
              <a:buFont typeface="Arial"/>
              <a:buChar char="•"/>
            </a:pPr>
            <a:r>
              <a:rPr lang="en-US" b="0"/>
              <a:t>Although being political/ controversial, 2026 Lebanon war graph looks different</a:t>
            </a:r>
          </a:p>
          <a:p>
            <a:pPr marL="425450" indent="-285750">
              <a:buFont typeface="Arial"/>
              <a:buChar char="•"/>
            </a:pPr>
            <a:endParaRPr lang="en-US"/>
          </a:p>
          <a:p>
            <a:pPr marL="425450" indent="-285750">
              <a:buFont typeface="Arial"/>
              <a:buChar char="•"/>
            </a:pPr>
            <a:endParaRPr lang="en-US" b="0"/>
          </a:p>
          <a:p>
            <a:pPr marL="425450" indent="-285750">
              <a:buFont typeface="Arial"/>
              <a:buChar char="•"/>
            </a:pPr>
            <a:endParaRPr lang="en-US"/>
          </a:p>
        </p:txBody>
      </p:sp>
      <p:pic>
        <p:nvPicPr>
          <p:cNvPr id="10" name="Picture 9" descr="A green and red pie chart&#10;&#10;AI-generated content may be incorrect.">
            <a:extLst>
              <a:ext uri="{FF2B5EF4-FFF2-40B4-BE49-F238E27FC236}">
                <a16:creationId xmlns:a16="http://schemas.microsoft.com/office/drawing/2014/main" id="{7D8648B5-2139-938B-F2AD-DC6BFED4FB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752456" y="2828254"/>
            <a:ext cx="1811896" cy="174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4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E2542E36-8016-AA91-CD53-2AC8F2BFF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D992CD80-CA68-0CDC-E051-4C0AA0CC92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Methods – POS, LDA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2F62094A-6E49-45D8-0A9B-652A11996BEE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2EC602D3-EDA9-37C7-F40F-794A6A9A2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" y="2660763"/>
            <a:ext cx="4793624" cy="2196518"/>
          </a:xfrm>
          <a:prstGeom prst="rect">
            <a:avLst/>
          </a:prstGeom>
        </p:spPr>
      </p:pic>
      <p:sp>
        <p:nvSpPr>
          <p:cNvPr id="7" name="Google Shape;371;p34">
            <a:extLst>
              <a:ext uri="{FF2B5EF4-FFF2-40B4-BE49-F238E27FC236}">
                <a16:creationId xmlns:a16="http://schemas.microsoft.com/office/drawing/2014/main" id="{FE25DD7B-238A-AB82-D304-3C63E0F67C66}"/>
              </a:ext>
            </a:extLst>
          </p:cNvPr>
          <p:cNvSpPr txBox="1">
            <a:spLocks/>
          </p:cNvSpPr>
          <p:nvPr/>
        </p:nvSpPr>
        <p:spPr>
          <a:xfrm>
            <a:off x="4800392" y="2661340"/>
            <a:ext cx="4335815" cy="12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" sz="1600">
                <a:solidFill>
                  <a:schemeClr val="tx1"/>
                </a:solidFill>
              </a:rPr>
              <a:t>Use POS for top 20 words across negative, neutral, and positive sentiment</a:t>
            </a:r>
            <a:endParaRPr lang="en-US">
              <a:solidFill>
                <a:schemeClr val="tx1"/>
              </a:solidFill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sz="1600">
                <a:solidFill>
                  <a:schemeClr val="tx1"/>
                </a:solidFill>
              </a:rPr>
              <a:t>Similar words like add/adding/added, fixed, removed, undid</a:t>
            </a:r>
            <a:r>
              <a:rPr lang="en" sz="1600">
                <a:solidFill>
                  <a:schemeClr val="tx1"/>
                </a:solidFill>
              </a:rPr>
              <a:t> 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/>
                </a:solidFill>
              </a:rPr>
              <a:t>Negative words aren't uniquely raid keywords; just concentrated in controversial articles</a:t>
            </a:r>
          </a:p>
          <a:p>
            <a:pPr marL="742950" lvl="1" indent="-285750" algn="l">
              <a:buFont typeface="Courier New,monospace"/>
              <a:buChar char="o"/>
            </a:pPr>
            <a:r>
              <a:rPr lang="en-US" sz="1600">
                <a:solidFill>
                  <a:schemeClr val="tx1"/>
                </a:solidFill>
              </a:rPr>
              <a:t>Use LDA to see if we can understand more of what is being commented</a:t>
            </a:r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  <a:p>
            <a:pPr marL="914400" algn="ctr">
              <a:buFont typeface="Arial"/>
              <a:buChar char="•"/>
            </a:pPr>
            <a:endParaRPr lang="en-US" sz="1400">
              <a:solidFill>
                <a:schemeClr val="tx1"/>
              </a:solidFill>
              <a:latin typeface="Arial"/>
              <a:cs typeface="Arial"/>
            </a:endParaRPr>
          </a:p>
          <a:p>
            <a:pPr marL="742950" lvl="1" algn="l">
              <a:buFont typeface="Courier New"/>
              <a:buChar char="o"/>
            </a:pPr>
            <a:endParaRPr lang="en" sz="1600">
              <a:solidFill>
                <a:schemeClr val="tx1"/>
              </a:solidFill>
            </a:endParaRPr>
          </a:p>
        </p:txBody>
      </p:sp>
      <p:pic>
        <p:nvPicPr>
          <p:cNvPr id="3" name="Picture 2" descr="A close up of words&#10;&#10;AI-generated content may be incorrect.">
            <a:extLst>
              <a:ext uri="{FF2B5EF4-FFF2-40B4-BE49-F238E27FC236}">
                <a16:creationId xmlns:a16="http://schemas.microsoft.com/office/drawing/2014/main" id="{06C4F89A-C899-BF23-E7D0-57C2FD2D8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41278"/>
            <a:ext cx="9144000" cy="170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7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BAA5B4D4-54B4-EECD-9B98-CB96499F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BE697278-4252-F9E1-47DC-11D84F881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Methods – POS, LDA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306425AD-49CB-583D-DBF8-318C4FF0F4D7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31765E3-54CD-407C-7447-24B0297FD4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1" r="6089" b="196"/>
          <a:stretch>
            <a:fillRect/>
          </a:stretch>
        </p:blipFill>
        <p:spPr>
          <a:xfrm>
            <a:off x="1339943" y="842653"/>
            <a:ext cx="6456040" cy="409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8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3FC278B0-B3DA-D37B-18F3-C96813E5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402798F2-F76D-FC78-26EC-0468E5873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Methods – POS, LDA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1AE67D38-B32A-2FF8-F46D-D5C7FC2140CC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7305FC58-E1F2-A12C-4F38-ECDEEEDA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25"/>
          <a:stretch>
            <a:fillRect/>
          </a:stretch>
        </p:blipFill>
        <p:spPr>
          <a:xfrm>
            <a:off x="1330540" y="835429"/>
            <a:ext cx="6475538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66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9C486A07-DC56-A793-29ED-FD0FBFD9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C904A316-7E5C-8E36-2FFE-7CCFFBBEBC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Methods – POS, LDA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514FA319-1657-16D6-2546-C1B20C3D7B55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B3F87E5-52D5-E070-B026-65DAB7B462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39" b="375"/>
          <a:stretch>
            <a:fillRect/>
          </a:stretch>
        </p:blipFill>
        <p:spPr>
          <a:xfrm>
            <a:off x="1333500" y="839608"/>
            <a:ext cx="6492476" cy="410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3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6BE82FB4-546F-CB7B-80A4-11A714E4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F0AECCD1-EFF6-395C-2851-4DFEFED1A7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Methods – Raid Keyword Analysis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911472CC-49B5-6CC1-AA8A-16E7AC122A8D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70;p34">
            <a:extLst>
              <a:ext uri="{FF2B5EF4-FFF2-40B4-BE49-F238E27FC236}">
                <a16:creationId xmlns:a16="http://schemas.microsoft.com/office/drawing/2014/main" id="{D657DD86-B68B-6058-E826-4F4229DBCFD0}"/>
              </a:ext>
            </a:extLst>
          </p:cNvPr>
          <p:cNvSpPr txBox="1">
            <a:spLocks/>
          </p:cNvSpPr>
          <p:nvPr/>
        </p:nvSpPr>
        <p:spPr>
          <a:xfrm>
            <a:off x="95514" y="1126561"/>
            <a:ext cx="3745681" cy="178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71450" indent="-171450">
              <a:buFont typeface="Arial,Sans-Serif"/>
              <a:buChar char="•"/>
            </a:pPr>
            <a:r>
              <a:rPr lang="en" sz="1600"/>
              <a:t>Found words that indicate vandalism</a:t>
            </a:r>
            <a:endParaRPr lang="en-US" sz="1600"/>
          </a:p>
          <a:p>
            <a:pPr marL="628650" lvl="1">
              <a:buFont typeface="Courier New,monospace"/>
              <a:buChar char="o"/>
            </a:pPr>
            <a:r>
              <a:rPr lang="en"/>
              <a:t>revert, undid, </a:t>
            </a:r>
            <a:r>
              <a:rPr lang="en" err="1"/>
              <a:t>rvv</a:t>
            </a:r>
            <a:r>
              <a:rPr lang="en"/>
              <a:t>, vandal, hoax, fake, </a:t>
            </a:r>
            <a:r>
              <a:rPr lang="en" err="1"/>
              <a:t>disinfo</a:t>
            </a:r>
            <a:r>
              <a:rPr lang="en"/>
              <a:t>, false, attack</a:t>
            </a:r>
          </a:p>
          <a:p>
            <a:pPr marL="171450" indent="-171450">
              <a:buFont typeface="Arial"/>
              <a:buChar char="•"/>
            </a:pPr>
            <a:r>
              <a:rPr lang="en" sz="1600"/>
              <a:t>Ran analysis on top months in edit activity for vandalism</a:t>
            </a:r>
          </a:p>
          <a:p>
            <a:pPr marL="628650" lvl="1" algn="l">
              <a:buFont typeface="Courier New"/>
              <a:buChar char="o"/>
            </a:pPr>
            <a:r>
              <a:rPr lang="en"/>
              <a:t>Controversial usually had higher top months </a:t>
            </a:r>
          </a:p>
          <a:p>
            <a:pPr marL="171450" indent="-171450">
              <a:buFont typeface="Arial"/>
              <a:buChar char="•"/>
            </a:pPr>
            <a:r>
              <a:rPr lang="en" sz="1600"/>
              <a:t>Ran analysis of percentage of vandalism over time </a:t>
            </a:r>
          </a:p>
          <a:p>
            <a:pPr marL="628650" lvl="1" algn="l">
              <a:buFont typeface="Courier New"/>
              <a:buChar char="o"/>
            </a:pPr>
            <a:r>
              <a:rPr lang="en"/>
              <a:t>Saw that </a:t>
            </a:r>
            <a:r>
              <a:rPr lang="en" err="1"/>
              <a:t>vandlism</a:t>
            </a:r>
            <a:r>
              <a:rPr lang="en"/>
              <a:t> was most present in edit rates spikes</a:t>
            </a:r>
          </a:p>
          <a:p>
            <a:pPr marL="628650" lvl="1" algn="l">
              <a:buFont typeface="Courier New"/>
              <a:buChar char="o"/>
            </a:pPr>
            <a:r>
              <a:rPr lang="en"/>
              <a:t>Especially so in secondary spikes</a:t>
            </a:r>
          </a:p>
          <a:p>
            <a:pPr marL="742950" lvl="1" indent="-285750" algn="l">
              <a:buFont typeface="Courier New"/>
              <a:buChar char="o"/>
            </a:pPr>
            <a:endParaRPr lang="en"/>
          </a:p>
        </p:txBody>
      </p:sp>
      <p:pic>
        <p:nvPicPr>
          <p:cNvPr id="5" name="Picture 4" descr="A graph of a graph with blue lines and orange dots&#10;&#10;AI-generated content may be incorrect.">
            <a:extLst>
              <a:ext uri="{FF2B5EF4-FFF2-40B4-BE49-F238E27FC236}">
                <a16:creationId xmlns:a16="http://schemas.microsoft.com/office/drawing/2014/main" id="{9C2605D2-C16E-303A-D448-CBA156E05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643" y="844850"/>
            <a:ext cx="5104357" cy="1927190"/>
          </a:xfrm>
          <a:prstGeom prst="rect">
            <a:avLst/>
          </a:prstGeom>
        </p:spPr>
      </p:pic>
      <p:pic>
        <p:nvPicPr>
          <p:cNvPr id="6" name="Picture 5" descr="A graph with red line&#10;&#10;AI-generated content may be incorrect.">
            <a:extLst>
              <a:ext uri="{FF2B5EF4-FFF2-40B4-BE49-F238E27FC236}">
                <a16:creationId xmlns:a16="http://schemas.microsoft.com/office/drawing/2014/main" id="{D9B8EFA1-27F6-B3DF-6275-94A763609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44" y="2770944"/>
            <a:ext cx="5112186" cy="171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18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6D086378-F657-7A9D-EAB5-3C900A78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2C5049D8-A7F0-3DEC-6212-536B32462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Findings and Conclusion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53AAE103-9101-C5D3-53BF-683065B8308B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71;p34">
            <a:extLst>
              <a:ext uri="{FF2B5EF4-FFF2-40B4-BE49-F238E27FC236}">
                <a16:creationId xmlns:a16="http://schemas.microsoft.com/office/drawing/2014/main" id="{69BBAB79-3C9F-DEAD-3CD2-4686AB703440}"/>
              </a:ext>
            </a:extLst>
          </p:cNvPr>
          <p:cNvSpPr txBox="1">
            <a:spLocks/>
          </p:cNvSpPr>
          <p:nvPr/>
        </p:nvSpPr>
        <p:spPr>
          <a:xfrm>
            <a:off x="317145" y="1983892"/>
            <a:ext cx="3941400" cy="157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/>
              <a:t>Controversial articles had higher negative comments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Negative comment sentiment sometimes correlated with edit rates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Raid analysis found that edit rates and raid words activity rose together in secondary spikes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</p:txBody>
      </p:sp>
      <p:sp>
        <p:nvSpPr>
          <p:cNvPr id="5" name="Google Shape;373;p34">
            <a:extLst>
              <a:ext uri="{FF2B5EF4-FFF2-40B4-BE49-F238E27FC236}">
                <a16:creationId xmlns:a16="http://schemas.microsoft.com/office/drawing/2014/main" id="{E2DCF9C8-0483-201C-5FF3-B04D0F32B0F1}"/>
              </a:ext>
            </a:extLst>
          </p:cNvPr>
          <p:cNvSpPr txBox="1">
            <a:spLocks/>
          </p:cNvSpPr>
          <p:nvPr/>
        </p:nvSpPr>
        <p:spPr>
          <a:xfrm>
            <a:off x="317145" y="1553129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Findings​</a:t>
            </a:r>
          </a:p>
        </p:txBody>
      </p:sp>
      <p:sp>
        <p:nvSpPr>
          <p:cNvPr id="7" name="Google Shape;371;p34">
            <a:extLst>
              <a:ext uri="{FF2B5EF4-FFF2-40B4-BE49-F238E27FC236}">
                <a16:creationId xmlns:a16="http://schemas.microsoft.com/office/drawing/2014/main" id="{CC2B8717-5A72-A838-4F38-AF66AD218BF4}"/>
              </a:ext>
            </a:extLst>
          </p:cNvPr>
          <p:cNvSpPr txBox="1">
            <a:spLocks/>
          </p:cNvSpPr>
          <p:nvPr/>
        </p:nvSpPr>
        <p:spPr>
          <a:xfrm>
            <a:off x="4566963" y="1985421"/>
            <a:ext cx="4351692" cy="189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" sz="1600">
                <a:solidFill>
                  <a:schemeClr val="tx1"/>
                </a:solidFill>
              </a:rPr>
              <a:t>During initial spikes, articles are more likely to be focused on truth finding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" sz="1600"/>
              <a:t>However, secondary spikes indicate vandalism </a:t>
            </a:r>
          </a:p>
          <a:p>
            <a:pPr marL="285750" indent="-285750">
              <a:buFont typeface="Arial,Sans-Serif"/>
              <a:buChar char="•"/>
            </a:pPr>
            <a:r>
              <a:rPr lang="en" sz="1600"/>
              <a:t>Thus, we concluded that a secondary spike after a first initial spike should indicate vandalism</a:t>
            </a:r>
          </a:p>
        </p:txBody>
      </p:sp>
      <p:sp>
        <p:nvSpPr>
          <p:cNvPr id="9" name="Google Shape;373;p34">
            <a:extLst>
              <a:ext uri="{FF2B5EF4-FFF2-40B4-BE49-F238E27FC236}">
                <a16:creationId xmlns:a16="http://schemas.microsoft.com/office/drawing/2014/main" id="{F6515BAA-EBA2-EAE9-2E84-FC8212F2245C}"/>
              </a:ext>
            </a:extLst>
          </p:cNvPr>
          <p:cNvSpPr txBox="1">
            <a:spLocks/>
          </p:cNvSpPr>
          <p:nvPr/>
        </p:nvSpPr>
        <p:spPr>
          <a:xfrm>
            <a:off x="4572503" y="1553128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58784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B6E33D65-9B37-EDE1-AAC1-8688CAA8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0ADE9659-D0E7-C96B-6C4F-F6C96BBC9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Challenges &amp; Outlook</a:t>
            </a:r>
            <a:endParaRPr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526754E9-3B1A-460C-8DD3-30426A3B106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5" name="Picture Placeholder 3" descr="Wikipedia logo PNG transparent image download, size: 1200x1200px">
            <a:extLst>
              <a:ext uri="{FF2B5EF4-FFF2-40B4-BE49-F238E27FC236}">
                <a16:creationId xmlns:a16="http://schemas.microsoft.com/office/drawing/2014/main" id="{6167F08A-7ABF-3796-B036-82476AE742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80" r="17080"/>
          <a:stretch/>
        </p:blipFill>
        <p:spPr>
          <a:xfrm>
            <a:off x="381000" y="1159150"/>
            <a:ext cx="2574000" cy="390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4610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010C563A-35E5-321C-2510-7E142CAE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F3D6EBDF-1446-FFDA-A467-6799A2131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Challenges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AC8D38A5-9831-1565-7A23-1AB60AFB1952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71;p34">
            <a:extLst>
              <a:ext uri="{FF2B5EF4-FFF2-40B4-BE49-F238E27FC236}">
                <a16:creationId xmlns:a16="http://schemas.microsoft.com/office/drawing/2014/main" id="{8A0AF094-D428-58F2-DB23-88FA216A0D7F}"/>
              </a:ext>
            </a:extLst>
          </p:cNvPr>
          <p:cNvSpPr txBox="1">
            <a:spLocks/>
          </p:cNvSpPr>
          <p:nvPr/>
        </p:nvSpPr>
        <p:spPr>
          <a:xfrm>
            <a:off x="317145" y="1983892"/>
            <a:ext cx="3941400" cy="2006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/>
              <a:t>Was easy to go beyond scope (forget that edit rates is the core/ tie back)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Had to scrap edit content analysis given said content was pages-long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Had to find controversial articles through research and assumptions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sz="1600"/>
              <a:t>Had to determine the articles' viability post-analysis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/>
          </a:p>
        </p:txBody>
      </p:sp>
      <p:sp>
        <p:nvSpPr>
          <p:cNvPr id="5" name="Google Shape;373;p34">
            <a:extLst>
              <a:ext uri="{FF2B5EF4-FFF2-40B4-BE49-F238E27FC236}">
                <a16:creationId xmlns:a16="http://schemas.microsoft.com/office/drawing/2014/main" id="{7D19EA7C-25C1-9834-97ED-2B3A7FE6973C}"/>
              </a:ext>
            </a:extLst>
          </p:cNvPr>
          <p:cNvSpPr txBox="1">
            <a:spLocks/>
          </p:cNvSpPr>
          <p:nvPr/>
        </p:nvSpPr>
        <p:spPr>
          <a:xfrm>
            <a:off x="317145" y="1553129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Data Size​</a:t>
            </a:r>
          </a:p>
        </p:txBody>
      </p:sp>
      <p:sp>
        <p:nvSpPr>
          <p:cNvPr id="9" name="Google Shape;373;p34">
            <a:extLst>
              <a:ext uri="{FF2B5EF4-FFF2-40B4-BE49-F238E27FC236}">
                <a16:creationId xmlns:a16="http://schemas.microsoft.com/office/drawing/2014/main" id="{F68CA0DB-54A7-B85F-C26F-9449C3E59520}"/>
              </a:ext>
            </a:extLst>
          </p:cNvPr>
          <p:cNvSpPr txBox="1">
            <a:spLocks/>
          </p:cNvSpPr>
          <p:nvPr/>
        </p:nvSpPr>
        <p:spPr>
          <a:xfrm>
            <a:off x="4572503" y="1553128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Analysis</a:t>
            </a:r>
          </a:p>
        </p:txBody>
      </p:sp>
      <p:sp>
        <p:nvSpPr>
          <p:cNvPr id="2" name="Google Shape;371;p34">
            <a:extLst>
              <a:ext uri="{FF2B5EF4-FFF2-40B4-BE49-F238E27FC236}">
                <a16:creationId xmlns:a16="http://schemas.microsoft.com/office/drawing/2014/main" id="{A02C0C9F-BD4B-3644-DF72-B331287CA5D9}"/>
              </a:ext>
            </a:extLst>
          </p:cNvPr>
          <p:cNvSpPr txBox="1">
            <a:spLocks/>
          </p:cNvSpPr>
          <p:nvPr/>
        </p:nvSpPr>
        <p:spPr>
          <a:xfrm>
            <a:off x="4575222" y="1983892"/>
            <a:ext cx="3941400" cy="2006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/>
              <a:t>Had to determine raid words after:</a:t>
            </a:r>
            <a:endParaRPr lang="en-US"/>
          </a:p>
          <a:p>
            <a:pPr marL="742950" lvl="1" indent="-285750" algn="l">
              <a:buFont typeface="Courier New"/>
              <a:buChar char="o"/>
            </a:pPr>
            <a:r>
              <a:rPr lang="en-US" sz="1600"/>
              <a:t>Failing to find unique keywords in top most negative words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sz="1600"/>
              <a:t>Failing to find a unique topic that was relevant to raids via LDA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70273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0FD44859-D36B-DC89-B2FA-55F1072C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B7871C27-C952-33F5-4B9B-D1F28600B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Outlook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91915D4C-0504-C0D2-66EB-B13531D98404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71;p34">
            <a:extLst>
              <a:ext uri="{FF2B5EF4-FFF2-40B4-BE49-F238E27FC236}">
                <a16:creationId xmlns:a16="http://schemas.microsoft.com/office/drawing/2014/main" id="{6B12A3E0-4C23-F4B7-DEFB-DA511B6DE5CA}"/>
              </a:ext>
            </a:extLst>
          </p:cNvPr>
          <p:cNvSpPr txBox="1">
            <a:spLocks/>
          </p:cNvSpPr>
          <p:nvPr/>
        </p:nvSpPr>
        <p:spPr>
          <a:xfrm>
            <a:off x="317145" y="1067926"/>
            <a:ext cx="5413208" cy="346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/>
              <a:t>Learned how to work with an API to pull historical data</a:t>
            </a:r>
            <a:endParaRPr lang="en-US" sz="1600" dirty="0"/>
          </a:p>
          <a:p>
            <a:pPr marL="0" indent="0"/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/>
              <a:t>Applied various data analytic practices to a large temporal data set</a:t>
            </a:r>
            <a:endParaRPr lang="en-US" sz="1600" dirty="0"/>
          </a:p>
          <a:p>
            <a:pPr marL="0" indent="0"/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/>
              <a:t>Iterated on own ideas to eventually find a combination of tools that helped form a conclusion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endParaRPr lang="en-US" sz="1600"/>
          </a:p>
          <a:p>
            <a:pPr marL="285750" indent="-285750">
              <a:buFont typeface="Arial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80902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 txBox="1">
            <a:spLocks noGrp="1"/>
          </p:cNvSpPr>
          <p:nvPr>
            <p:ph type="title"/>
          </p:nvPr>
        </p:nvSpPr>
        <p:spPr>
          <a:xfrm>
            <a:off x="182259" y="1370700"/>
            <a:ext cx="2955153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</a:p>
        </p:txBody>
      </p:sp>
      <p:sp>
        <p:nvSpPr>
          <p:cNvPr id="474" name="Google Shape;474;p41"/>
          <p:cNvSpPr txBox="1">
            <a:spLocks noGrp="1"/>
          </p:cNvSpPr>
          <p:nvPr>
            <p:ph type="subTitle" idx="1"/>
          </p:nvPr>
        </p:nvSpPr>
        <p:spPr>
          <a:xfrm>
            <a:off x="4400375" y="2513700"/>
            <a:ext cx="4448100" cy="11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Do you have any questions?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AE344F74-64C7-46AF-846B-09D91281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04BD2CF5-338D-40E5-A7BA-723E5803E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AA95A8D4-F186-5074-B5D0-9613529214F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4" name="Picture Placeholder 3" descr="Wikipedia logo PNG transparent image download, size: 1200x1200px">
            <a:extLst>
              <a:ext uri="{FF2B5EF4-FFF2-40B4-BE49-F238E27FC236}">
                <a16:creationId xmlns:a16="http://schemas.microsoft.com/office/drawing/2014/main" id="{6CD180B1-6B3E-3078-2B36-73294FC6B357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7080" r="17080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259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Overview - Data</a:t>
            </a:r>
            <a:endParaRPr lang="en-US"/>
          </a:p>
        </p:txBody>
      </p:sp>
      <p:sp>
        <p:nvSpPr>
          <p:cNvPr id="370" name="Google Shape;370;p34"/>
          <p:cNvSpPr txBox="1">
            <a:spLocks noGrp="1"/>
          </p:cNvSpPr>
          <p:nvPr>
            <p:ph type="subTitle" idx="3"/>
          </p:nvPr>
        </p:nvSpPr>
        <p:spPr>
          <a:xfrm>
            <a:off x="228603" y="1987725"/>
            <a:ext cx="3941400" cy="1789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" sz="1600"/>
              <a:t>Created a function where entering a title and time period retrieves:</a:t>
            </a:r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Date edited</a:t>
            </a:r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Minor or major change</a:t>
            </a:r>
            <a:endParaRPr lang="en-US"/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Edit comment</a:t>
            </a:r>
            <a:endParaRPr lang="en-US"/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Edit content (</a:t>
            </a:r>
            <a:r>
              <a:rPr lang="en" err="1"/>
              <a:t>include_content</a:t>
            </a:r>
            <a:r>
              <a:rPr lang="en"/>
              <a:t> = T/F)</a:t>
            </a:r>
          </a:p>
          <a:p>
            <a:pPr marL="171450" indent="-171450">
              <a:buFont typeface="Arial"/>
              <a:buChar char="•"/>
            </a:pPr>
            <a:r>
              <a:rPr lang="en" sz="1600"/>
              <a:t>Allows for flexibility in choosing what articles to grab information from </a:t>
            </a:r>
          </a:p>
          <a:p>
            <a:pPr marL="742950" lvl="1" indent="-285750" algn="l">
              <a:buFont typeface="Courier New"/>
              <a:buChar char="o"/>
            </a:pPr>
            <a:endParaRPr lang="en"/>
          </a:p>
        </p:txBody>
      </p:sp>
      <p:sp>
        <p:nvSpPr>
          <p:cNvPr id="372" name="Google Shape;372;p34"/>
          <p:cNvSpPr txBox="1">
            <a:spLocks noGrp="1"/>
          </p:cNvSpPr>
          <p:nvPr>
            <p:ph type="subTitle" idx="1"/>
          </p:nvPr>
        </p:nvSpPr>
        <p:spPr>
          <a:xfrm>
            <a:off x="228603" y="1549137"/>
            <a:ext cx="394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Wikipedia Edits</a:t>
            </a:r>
            <a:endParaRPr lang="en-US"/>
          </a:p>
        </p:txBody>
      </p:sp>
      <p:cxnSp>
        <p:nvCxnSpPr>
          <p:cNvPr id="374" name="Google Shape;374;p34"/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D8C95C9-A1D7-CBA5-E389-0BDDFAD17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048" y="895864"/>
            <a:ext cx="4743451" cy="39696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31C81019-0504-0B2E-B493-CF676131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64D18888-FFE7-8CD7-967D-5BDF50A10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Overview - Data</a:t>
            </a:r>
            <a:endParaRPr lang="en-US"/>
          </a:p>
        </p:txBody>
      </p:sp>
      <p:sp>
        <p:nvSpPr>
          <p:cNvPr id="371" name="Google Shape;371;p34">
            <a:extLst>
              <a:ext uri="{FF2B5EF4-FFF2-40B4-BE49-F238E27FC236}">
                <a16:creationId xmlns:a16="http://schemas.microsoft.com/office/drawing/2014/main" id="{B94E8A1D-A5FF-2FC0-80F5-BB6D8AE9580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17145" y="1991720"/>
            <a:ext cx="3941400" cy="1293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sz="1600"/>
              <a:t>Focused on a mix of both controversial (recent and past) and non-controversial (event and discovery) articles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/>
              <a:t>Visualizes edit rates of their highest edit month, analyzing edit comments and content</a:t>
            </a:r>
          </a:p>
        </p:txBody>
      </p:sp>
      <p:sp>
        <p:nvSpPr>
          <p:cNvPr id="373" name="Google Shape;373;p34">
            <a:extLst>
              <a:ext uri="{FF2B5EF4-FFF2-40B4-BE49-F238E27FC236}">
                <a16:creationId xmlns:a16="http://schemas.microsoft.com/office/drawing/2014/main" id="{5587A2B8-E561-48B8-5EC7-0D6EDE29D72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7145" y="1553129"/>
            <a:ext cx="394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Starting Articles</a:t>
            </a:r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EF04CFD1-F046-A4FF-7AB0-606EB05312B8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371;p34">
            <a:extLst>
              <a:ext uri="{FF2B5EF4-FFF2-40B4-BE49-F238E27FC236}">
                <a16:creationId xmlns:a16="http://schemas.microsoft.com/office/drawing/2014/main" id="{887CFE26-A135-6D53-5F16-9B14DE27AB4E}"/>
              </a:ext>
            </a:extLst>
          </p:cNvPr>
          <p:cNvSpPr txBox="1">
            <a:spLocks/>
          </p:cNvSpPr>
          <p:nvPr/>
        </p:nvSpPr>
        <p:spPr>
          <a:xfrm>
            <a:off x="4574686" y="2232661"/>
            <a:ext cx="4343864" cy="12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Font typeface="Arial"/>
              <a:buChar char="•"/>
            </a:pPr>
            <a:r>
              <a:rPr lang="en" sz="160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 Iran war</a:t>
            </a:r>
            <a:r>
              <a:rPr lang="en" sz="1600">
                <a:solidFill>
                  <a:schemeClr val="tx1"/>
                </a:solidFill>
              </a:rPr>
              <a:t> (Socio-political, Recent);</a:t>
            </a:r>
            <a:endParaRPr lang="en-US" sz="16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" sz="160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Donald Trump</a:t>
            </a:r>
            <a:r>
              <a:rPr lang="en" sz="1600">
                <a:solidFill>
                  <a:schemeClr val="tx1"/>
                </a:solidFill>
              </a:rPr>
              <a:t> (Socio-political, Legacy);</a:t>
            </a:r>
            <a:endParaRPr lang="en-US" sz="16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" sz="160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Artemis II</a:t>
            </a:r>
            <a:r>
              <a:rPr lang="en" sz="1600">
                <a:solidFill>
                  <a:schemeClr val="tx1"/>
                </a:solidFill>
              </a:rPr>
              <a:t> (Scientific, Event-Driven); </a:t>
            </a:r>
            <a:endParaRPr lang="en-US" sz="160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" sz="160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 in science</a:t>
            </a:r>
            <a:r>
              <a:rPr lang="en" sz="1600">
                <a:solidFill>
                  <a:schemeClr val="tx1"/>
                </a:solidFill>
              </a:rPr>
              <a:t> (Scientific, Discovery);</a:t>
            </a: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06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117AF16B-852A-A633-52CF-75021CA5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D8918770-1C4E-3F7C-23AA-CBDF11CD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15" y="-2703"/>
            <a:ext cx="6210300" cy="2623493"/>
          </a:xfrm>
          <a:prstGeom prst="rect">
            <a:avLst/>
          </a:prstGeom>
        </p:spPr>
      </p:pic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FCC68D8C-EB55-F76B-09E2-B92C97223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215" y="2563127"/>
            <a:ext cx="6210300" cy="2581275"/>
          </a:xfrm>
          <a:prstGeom prst="rect">
            <a:avLst/>
          </a:prstGeom>
        </p:spPr>
      </p:pic>
      <p:sp>
        <p:nvSpPr>
          <p:cNvPr id="8" name="Google Shape;409;p37">
            <a:extLst>
              <a:ext uri="{FF2B5EF4-FFF2-40B4-BE49-F238E27FC236}">
                <a16:creationId xmlns:a16="http://schemas.microsoft.com/office/drawing/2014/main" id="{DD8A98F0-8915-A9DB-3EC6-85A4B1747E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1" y="2200054"/>
            <a:ext cx="292045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/>
              <a:t>Trend found:</a:t>
            </a:r>
            <a:br>
              <a:rPr lang="en" sz="3200"/>
            </a:br>
            <a:r>
              <a:rPr lang="en" sz="3200"/>
              <a:t>Non-  Controversial</a:t>
            </a:r>
          </a:p>
        </p:txBody>
      </p:sp>
    </p:spTree>
    <p:extLst>
      <p:ext uri="{BB962C8B-B14F-4D97-AF65-F5344CB8AC3E}">
        <p14:creationId xmlns:p14="http://schemas.microsoft.com/office/powerpoint/2010/main" val="1612965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AF0F5D54-0661-8201-435E-0B64C834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7">
            <a:extLst>
              <a:ext uri="{FF2B5EF4-FFF2-40B4-BE49-F238E27FC236}">
                <a16:creationId xmlns:a16="http://schemas.microsoft.com/office/drawing/2014/main" id="{75AE75A7-50CC-BD1A-D9B7-EC75A8743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1" y="2200054"/>
            <a:ext cx="2959195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/>
              <a:t>Trend found:  Controversial</a:t>
            </a:r>
          </a:p>
        </p:txBody>
      </p:sp>
      <p:pic>
        <p:nvPicPr>
          <p:cNvPr id="2" name="Picture 1" descr="A graph of a graph with blue and orange lines&#10;&#10;AI-generated content may be incorrect.">
            <a:extLst>
              <a:ext uri="{FF2B5EF4-FFF2-40B4-BE49-F238E27FC236}">
                <a16:creationId xmlns:a16="http://schemas.microsoft.com/office/drawing/2014/main" id="{23EF0A28-FE73-9FFC-CDAA-317A70A5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266" y="-907"/>
            <a:ext cx="6194734" cy="2632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419E0F-5D7A-C970-F6F1-69BA188E0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266" y="2574476"/>
            <a:ext cx="6194734" cy="257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45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F8130B78-1BF5-F403-F25A-AD65F84F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2D41598E-9130-F5A9-0C2A-24FDDA985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390B96DA-1D85-6552-6628-2185A02049C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5" name="Picture Placeholder 3" descr="Wikipedia logo PNG transparent image download, size: 1200x1200px">
            <a:extLst>
              <a:ext uri="{FF2B5EF4-FFF2-40B4-BE49-F238E27FC236}">
                <a16:creationId xmlns:a16="http://schemas.microsoft.com/office/drawing/2014/main" id="{13C87FE3-F6D6-0C2B-43FB-35FA7A199D5C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7080" r="17080"/>
          <a:stretch/>
        </p:blipFill>
        <p:spPr>
          <a:xfrm>
            <a:off x="228600" y="1006750"/>
            <a:ext cx="2574000" cy="390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2357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B922CFAC-DEC5-A075-D10B-9D674494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5DE8A707-4324-F273-AAC4-C4B8FC5E0C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Model</a:t>
            </a:r>
            <a:endParaRPr lang="en-US"/>
          </a:p>
        </p:txBody>
      </p:sp>
      <p:sp>
        <p:nvSpPr>
          <p:cNvPr id="370" name="Google Shape;370;p34">
            <a:extLst>
              <a:ext uri="{FF2B5EF4-FFF2-40B4-BE49-F238E27FC236}">
                <a16:creationId xmlns:a16="http://schemas.microsoft.com/office/drawing/2014/main" id="{686B1778-E030-E076-6638-EB69A40A3E1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28603" y="1987725"/>
            <a:ext cx="3941400" cy="1789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" sz="1600"/>
              <a:t>Created a function that:</a:t>
            </a:r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Convert edit comments to Unicode</a:t>
            </a:r>
          </a:p>
          <a:p>
            <a:pPr marL="1085850" lvl="2" indent="-171450" algn="l">
              <a:buFont typeface="Wingdings"/>
              <a:buChar char="§"/>
            </a:pPr>
            <a:r>
              <a:rPr lang="en" err="1"/>
              <a:t>nbsp</a:t>
            </a:r>
            <a:r>
              <a:rPr lang="en"/>
              <a:t> prevents consecutive whitespace characters from collapsing into a single space</a:t>
            </a:r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Remove section markers and URL</a:t>
            </a:r>
            <a:endParaRPr lang="en-US"/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Convert internal links to text</a:t>
            </a:r>
          </a:p>
          <a:p>
            <a:pPr marL="1085850" lvl="2" algn="l">
              <a:buFont typeface="Wingdings"/>
              <a:buChar char="§"/>
            </a:pPr>
            <a:r>
              <a:rPr lang="en"/>
              <a:t>[[LinkText]]</a:t>
            </a:r>
            <a:r>
              <a:rPr lang="en" sz="1600"/>
              <a:t> </a:t>
            </a:r>
            <a:endParaRPr lang="en"/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Keep letters, numbers, and spaces</a:t>
            </a:r>
          </a:p>
          <a:p>
            <a:pPr marL="628650" lvl="1" indent="-171450" algn="l">
              <a:buFont typeface="Courier New,monospace"/>
              <a:buChar char="o"/>
            </a:pPr>
            <a:r>
              <a:rPr lang="en"/>
              <a:t>Remove # and whitespace</a:t>
            </a:r>
          </a:p>
          <a:p>
            <a:pPr marL="1085850" lvl="2" algn="l">
              <a:buFont typeface="Wingdings"/>
              <a:buChar char="§"/>
            </a:pPr>
            <a:endParaRPr lang="en" sz="1600"/>
          </a:p>
          <a:p>
            <a:pPr marL="742950" lvl="1" indent="-285750" algn="l">
              <a:buFont typeface="Courier New"/>
              <a:buChar char="o"/>
            </a:pPr>
            <a:endParaRPr lang="en"/>
          </a:p>
        </p:txBody>
      </p:sp>
      <p:sp>
        <p:nvSpPr>
          <p:cNvPr id="372" name="Google Shape;372;p34">
            <a:extLst>
              <a:ext uri="{FF2B5EF4-FFF2-40B4-BE49-F238E27FC236}">
                <a16:creationId xmlns:a16="http://schemas.microsoft.com/office/drawing/2014/main" id="{A702BAD2-5B82-44B9-A7FB-AAB4B1EC20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3" y="1549137"/>
            <a:ext cx="394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Clean Wikipedia Edit Comments</a:t>
            </a:r>
            <a:endParaRPr lang="en-US"/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33E56731-4E89-9719-5E1F-B190655394FC}"/>
              </a:ext>
            </a:extLst>
          </p:cNvPr>
          <p:cNvCxnSpPr/>
          <p:nvPr/>
        </p:nvCxnSpPr>
        <p:spPr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962A169-A0A8-3040-24C6-3C6AFA74C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770" y="925668"/>
            <a:ext cx="3650840" cy="391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92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96DDFE47-CEFB-9913-A5CF-206D2583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09;p37">
            <a:extLst>
              <a:ext uri="{FF2B5EF4-FFF2-40B4-BE49-F238E27FC236}">
                <a16:creationId xmlns:a16="http://schemas.microsoft.com/office/drawing/2014/main" id="{B3233A1F-B8AF-88F5-C109-21277D3A3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7965" y="230696"/>
            <a:ext cx="5283679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200"/>
              <a:t>Donald Trump (Nov 2024)</a:t>
            </a:r>
          </a:p>
        </p:txBody>
      </p:sp>
      <p:pic>
        <p:nvPicPr>
          <p:cNvPr id="3" name="Picture 2" descr="A graph of blue squares with white text&#10;&#10;AI-generated content may be incorrect.">
            <a:extLst>
              <a:ext uri="{FF2B5EF4-FFF2-40B4-BE49-F238E27FC236}">
                <a16:creationId xmlns:a16="http://schemas.microsoft.com/office/drawing/2014/main" id="{E0A99DD8-20D4-7B82-9840-602A8F2A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972580"/>
            <a:ext cx="7429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1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9EFAA9FA-53C9-D342-AF22-33127BDC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09;p37">
            <a:extLst>
              <a:ext uri="{FF2B5EF4-FFF2-40B4-BE49-F238E27FC236}">
                <a16:creationId xmlns:a16="http://schemas.microsoft.com/office/drawing/2014/main" id="{2E26E5ED-6CD5-CEDA-5E68-8F9CB0BA3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7965" y="230696"/>
            <a:ext cx="5283679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200"/>
              <a:t>Donald Trump (Nov 2024)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5E6577-C0D3-1672-0DCC-FD429B6C6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972580"/>
            <a:ext cx="7429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76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4050C197-F678-EAD9-E4F4-998824DC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09;p37">
            <a:extLst>
              <a:ext uri="{FF2B5EF4-FFF2-40B4-BE49-F238E27FC236}">
                <a16:creationId xmlns:a16="http://schemas.microsoft.com/office/drawing/2014/main" id="{9237C19A-A38F-42EF-0F82-0000D01D6D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7965" y="230696"/>
            <a:ext cx="5283679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200"/>
              <a:t>Artemis II (Apr 2026)</a:t>
            </a:r>
          </a:p>
        </p:txBody>
      </p:sp>
      <p:pic>
        <p:nvPicPr>
          <p:cNvPr id="4" name="Picture 3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EB190102-4815-EEE4-B319-7B8BBC12F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975541"/>
            <a:ext cx="74295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96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77CA7242-C6ED-8CBC-36F4-1B2BFA5F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09;p37">
            <a:extLst>
              <a:ext uri="{FF2B5EF4-FFF2-40B4-BE49-F238E27FC236}">
                <a16:creationId xmlns:a16="http://schemas.microsoft.com/office/drawing/2014/main" id="{1A97DAA1-1E4B-4D26-76AF-0E7CC5041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7965" y="230696"/>
            <a:ext cx="5283679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3200"/>
              <a:t>Artemis II (Apr 2026)</a:t>
            </a:r>
          </a:p>
        </p:txBody>
      </p:sp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E2975A80-7C3E-DDB1-951B-F05948C8B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968160"/>
            <a:ext cx="74295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1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DF5349F3-C6E9-D945-A74F-7181CEC1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784D471D-6293-2542-8FC6-EFBA5C13C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D5B8117C-48FA-6176-F0A9-B1FFEF88ECE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5" name="Picture Placeholder 3" descr="Wikipedia logo PNG transparent image download, size: 1200x1200px">
            <a:extLst>
              <a:ext uri="{FF2B5EF4-FFF2-40B4-BE49-F238E27FC236}">
                <a16:creationId xmlns:a16="http://schemas.microsoft.com/office/drawing/2014/main" id="{37793B93-B0C4-0CCC-52FF-3FADEFA9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80" r="17080"/>
          <a:stretch/>
        </p:blipFill>
        <p:spPr>
          <a:xfrm>
            <a:off x="381000" y="1159150"/>
            <a:ext cx="2574000" cy="390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733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E55D66A1-EBAA-156A-DE6E-BD9C916B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CA3D638C-8422-761B-4E7C-47E6ACFBD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Challenges</a:t>
            </a:r>
            <a:endParaRPr lang="en-US"/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B833FAB2-4A83-9EAB-77E1-8040E160A4EE}"/>
              </a:ext>
            </a:extLst>
          </p:cNvPr>
          <p:cNvCxnSpPr/>
          <p:nvPr/>
        </p:nvCxnSpPr>
        <p:spPr>
          <a:xfrm>
            <a:off x="369794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371;p34">
            <a:extLst>
              <a:ext uri="{FF2B5EF4-FFF2-40B4-BE49-F238E27FC236}">
                <a16:creationId xmlns:a16="http://schemas.microsoft.com/office/drawing/2014/main" id="{7A4B520A-E2BE-3B31-194D-9304DF064C66}"/>
              </a:ext>
            </a:extLst>
          </p:cNvPr>
          <p:cNvSpPr txBox="1">
            <a:spLocks/>
          </p:cNvSpPr>
          <p:nvPr/>
        </p:nvSpPr>
        <p:spPr>
          <a:xfrm>
            <a:off x="317145" y="1991720"/>
            <a:ext cx="3941400" cy="12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/>
              <a:t>Many articles are under protection, complicating edit rates</a:t>
            </a:r>
          </a:p>
          <a:p>
            <a:pPr marL="742950" lvl="1" algn="l">
              <a:buFont typeface="Courier New"/>
              <a:buChar char="o"/>
            </a:pPr>
            <a:r>
              <a:rPr lang="en-US" sz="1600"/>
              <a:t>Had to assume what articles are 'controversial'</a:t>
            </a:r>
          </a:p>
        </p:txBody>
      </p:sp>
      <p:sp>
        <p:nvSpPr>
          <p:cNvPr id="9" name="Google Shape;373;p34">
            <a:extLst>
              <a:ext uri="{FF2B5EF4-FFF2-40B4-BE49-F238E27FC236}">
                <a16:creationId xmlns:a16="http://schemas.microsoft.com/office/drawing/2014/main" id="{9B4257A0-8455-1E42-2FCF-63BE29220869}"/>
              </a:ext>
            </a:extLst>
          </p:cNvPr>
          <p:cNvSpPr txBox="1">
            <a:spLocks/>
          </p:cNvSpPr>
          <p:nvPr/>
        </p:nvSpPr>
        <p:spPr>
          <a:xfrm>
            <a:off x="317145" y="1553129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Finding Articles</a:t>
            </a:r>
          </a:p>
        </p:txBody>
      </p:sp>
      <p:sp>
        <p:nvSpPr>
          <p:cNvPr id="11" name="Google Shape;371;p34">
            <a:extLst>
              <a:ext uri="{FF2B5EF4-FFF2-40B4-BE49-F238E27FC236}">
                <a16:creationId xmlns:a16="http://schemas.microsoft.com/office/drawing/2014/main" id="{D207CD37-E0F2-1602-4292-D6E97D446ED6}"/>
              </a:ext>
            </a:extLst>
          </p:cNvPr>
          <p:cNvSpPr txBox="1">
            <a:spLocks/>
          </p:cNvSpPr>
          <p:nvPr/>
        </p:nvSpPr>
        <p:spPr>
          <a:xfrm>
            <a:off x="4566963" y="1993249"/>
            <a:ext cx="4343864" cy="12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" sz="1600">
                <a:solidFill>
                  <a:schemeClr val="tx1"/>
                </a:solidFill>
              </a:rPr>
              <a:t>Edits are long and can range throughout an entire article</a:t>
            </a:r>
          </a:p>
          <a:p>
            <a:pPr marL="742950" lvl="1" algn="l">
              <a:buFont typeface="Courier New"/>
              <a:buChar char="o"/>
            </a:pPr>
            <a:r>
              <a:rPr lang="en" sz="1600">
                <a:solidFill>
                  <a:schemeClr val="tx1"/>
                </a:solidFill>
              </a:rPr>
              <a:t>Causes long compute time due to edit length</a:t>
            </a:r>
          </a:p>
        </p:txBody>
      </p:sp>
      <p:sp>
        <p:nvSpPr>
          <p:cNvPr id="16" name="Google Shape;373;p34">
            <a:extLst>
              <a:ext uri="{FF2B5EF4-FFF2-40B4-BE49-F238E27FC236}">
                <a16:creationId xmlns:a16="http://schemas.microsoft.com/office/drawing/2014/main" id="{7A7939A9-FA54-79FA-FBF0-93915B14D95E}"/>
              </a:ext>
            </a:extLst>
          </p:cNvPr>
          <p:cNvSpPr txBox="1">
            <a:spLocks/>
          </p:cNvSpPr>
          <p:nvPr/>
        </p:nvSpPr>
        <p:spPr>
          <a:xfrm>
            <a:off x="4572503" y="1553128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Data Gathering</a:t>
            </a:r>
          </a:p>
        </p:txBody>
      </p:sp>
    </p:spTree>
    <p:extLst>
      <p:ext uri="{BB962C8B-B14F-4D97-AF65-F5344CB8AC3E}">
        <p14:creationId xmlns:p14="http://schemas.microsoft.com/office/powerpoint/2010/main" val="4194074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B37F7DC8-1CBA-0257-698B-7D84E307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6D90E00D-7D5F-253D-ACFF-C83131642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2200" y="2883000"/>
            <a:ext cx="49632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</a:t>
            </a:r>
            <a:endParaRPr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B70D89E1-70A6-DF94-B97C-8063B3B8168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647000" y="1546188"/>
            <a:ext cx="12684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5" name="Picture Placeholder 3" descr="Wikipedia logo PNG transparent image download, size: 1200x1200px">
            <a:extLst>
              <a:ext uri="{FF2B5EF4-FFF2-40B4-BE49-F238E27FC236}">
                <a16:creationId xmlns:a16="http://schemas.microsoft.com/office/drawing/2014/main" id="{749DA530-0DFD-E5EB-5D97-EB5B80AE84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80" r="17080"/>
          <a:stretch/>
        </p:blipFill>
        <p:spPr>
          <a:xfrm>
            <a:off x="381000" y="1159150"/>
            <a:ext cx="2574000" cy="390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030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22DE9F1C-D61A-8F15-01F0-7DD0ED46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>
            <a:extLst>
              <a:ext uri="{FF2B5EF4-FFF2-40B4-BE49-F238E27FC236}">
                <a16:creationId xmlns:a16="http://schemas.microsoft.com/office/drawing/2014/main" id="{1054D646-18D4-A2AD-72DE-0E0D5D74B3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/>
              <a:t>Updates</a:t>
            </a:r>
            <a:endParaRPr lang="en-US"/>
          </a:p>
        </p:txBody>
      </p:sp>
      <p:cxnSp>
        <p:nvCxnSpPr>
          <p:cNvPr id="374" name="Google Shape;374;p34">
            <a:extLst>
              <a:ext uri="{FF2B5EF4-FFF2-40B4-BE49-F238E27FC236}">
                <a16:creationId xmlns:a16="http://schemas.microsoft.com/office/drawing/2014/main" id="{781683E3-1D34-3AC9-4A06-1050C2DA0DF7}"/>
              </a:ext>
            </a:extLst>
          </p:cNvPr>
          <p:cNvCxnSpPr/>
          <p:nvPr/>
        </p:nvCxnSpPr>
        <p:spPr>
          <a:xfrm>
            <a:off x="369794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371;p34">
            <a:extLst>
              <a:ext uri="{FF2B5EF4-FFF2-40B4-BE49-F238E27FC236}">
                <a16:creationId xmlns:a16="http://schemas.microsoft.com/office/drawing/2014/main" id="{782B0274-6ECB-AF23-35E8-F1D7B05F2CFA}"/>
              </a:ext>
            </a:extLst>
          </p:cNvPr>
          <p:cNvSpPr txBox="1">
            <a:spLocks/>
          </p:cNvSpPr>
          <p:nvPr/>
        </p:nvSpPr>
        <p:spPr>
          <a:xfrm>
            <a:off x="317145" y="1991720"/>
            <a:ext cx="3941400" cy="12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/>
              <a:t>Analyze sentiment analysis further to identify any signs of 'raids'</a:t>
            </a:r>
          </a:p>
          <a:p>
            <a:pPr marL="285750" indent="-285750" algn="l">
              <a:buFont typeface="Arial"/>
              <a:buChar char="•"/>
            </a:pPr>
            <a:r>
              <a:rPr lang="en-US" sz="1600"/>
              <a:t>Find words used when 'raids' occur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Analyze the edit rates in 'raids' to find patterns that can be generalized</a:t>
            </a:r>
          </a:p>
        </p:txBody>
      </p:sp>
      <p:sp>
        <p:nvSpPr>
          <p:cNvPr id="10" name="Google Shape;373;p34">
            <a:extLst>
              <a:ext uri="{FF2B5EF4-FFF2-40B4-BE49-F238E27FC236}">
                <a16:creationId xmlns:a16="http://schemas.microsoft.com/office/drawing/2014/main" id="{4A46DC07-B056-4BBA-4AD8-AA2AC834313D}"/>
              </a:ext>
            </a:extLst>
          </p:cNvPr>
          <p:cNvSpPr txBox="1">
            <a:spLocks/>
          </p:cNvSpPr>
          <p:nvPr/>
        </p:nvSpPr>
        <p:spPr>
          <a:xfrm>
            <a:off x="317145" y="1553129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Analyzing Comments and Content</a:t>
            </a:r>
          </a:p>
        </p:txBody>
      </p:sp>
      <p:sp>
        <p:nvSpPr>
          <p:cNvPr id="13" name="Google Shape;371;p34">
            <a:extLst>
              <a:ext uri="{FF2B5EF4-FFF2-40B4-BE49-F238E27FC236}">
                <a16:creationId xmlns:a16="http://schemas.microsoft.com/office/drawing/2014/main" id="{033A0289-A635-B157-35F8-59A29B07F7C5}"/>
              </a:ext>
            </a:extLst>
          </p:cNvPr>
          <p:cNvSpPr txBox="1">
            <a:spLocks/>
          </p:cNvSpPr>
          <p:nvPr/>
        </p:nvSpPr>
        <p:spPr>
          <a:xfrm>
            <a:off x="4566963" y="1993249"/>
            <a:ext cx="4343864" cy="129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" sz="1600">
                <a:solidFill>
                  <a:schemeClr val="tx1"/>
                </a:solidFill>
              </a:rPr>
              <a:t>Use found patterns to see whether or not it is possible to identify articles that: </a:t>
            </a:r>
            <a:endParaRPr lang="en-US">
              <a:solidFill>
                <a:schemeClr val="tx1"/>
              </a:solidFill>
            </a:endParaRPr>
          </a:p>
          <a:p>
            <a:pPr marL="742950" lvl="1" algn="l">
              <a:buFont typeface="Courier New"/>
              <a:buChar char="o"/>
            </a:pPr>
            <a:r>
              <a:rPr lang="en" sz="1600">
                <a:solidFill>
                  <a:schemeClr val="tx1"/>
                </a:solidFill>
              </a:rPr>
              <a:t>are currently 'raided'  </a:t>
            </a:r>
          </a:p>
          <a:p>
            <a:pPr marL="742950" lvl="1" algn="l">
              <a:buFont typeface="Courier New"/>
              <a:buChar char="o"/>
            </a:pPr>
            <a:r>
              <a:rPr lang="en" sz="1600">
                <a:solidFill>
                  <a:schemeClr val="tx1"/>
                </a:solidFill>
              </a:rPr>
              <a:t>have a history of 'being raided'</a:t>
            </a:r>
          </a:p>
        </p:txBody>
      </p:sp>
      <p:sp>
        <p:nvSpPr>
          <p:cNvPr id="16" name="Google Shape;373;p34">
            <a:extLst>
              <a:ext uri="{FF2B5EF4-FFF2-40B4-BE49-F238E27FC236}">
                <a16:creationId xmlns:a16="http://schemas.microsoft.com/office/drawing/2014/main" id="{3AD1AFBC-3A75-DCE6-452C-78CBD51F8BA8}"/>
              </a:ext>
            </a:extLst>
          </p:cNvPr>
          <p:cNvSpPr txBox="1">
            <a:spLocks/>
          </p:cNvSpPr>
          <p:nvPr/>
        </p:nvSpPr>
        <p:spPr>
          <a:xfrm>
            <a:off x="4572503" y="1553128"/>
            <a:ext cx="39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16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ace Grotesk"/>
              <a:buNone/>
              <a:defRPr sz="24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indent="0"/>
            <a:r>
              <a:rPr lang="en"/>
              <a:t>Article Finding</a:t>
            </a:r>
          </a:p>
        </p:txBody>
      </p:sp>
    </p:spTree>
    <p:extLst>
      <p:ext uri="{BB962C8B-B14F-4D97-AF65-F5344CB8AC3E}">
        <p14:creationId xmlns:p14="http://schemas.microsoft.com/office/powerpoint/2010/main" val="37482697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33</Slides>
  <Notes>33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Mastering Code by Slidesgo</vt:lpstr>
      <vt:lpstr>INFO 440 Wikipedia Edit Histories: How is Truth or Belief “Drafted”?</vt:lpstr>
      <vt:lpstr>Table of contents</vt:lpstr>
      <vt:lpstr>Overview</vt:lpstr>
      <vt:lpstr>Overview - Motivation</vt:lpstr>
      <vt:lpstr>Overview – Data and Roadmap</vt:lpstr>
      <vt:lpstr>Models &amp; Findings</vt:lpstr>
      <vt:lpstr>Methods – Edit Spikes</vt:lpstr>
      <vt:lpstr>Methods – VADER Sentiment</vt:lpstr>
      <vt:lpstr>Methods – POS, LDA</vt:lpstr>
      <vt:lpstr>Methods – POS, LDA</vt:lpstr>
      <vt:lpstr>Methods – POS, LDA</vt:lpstr>
      <vt:lpstr>Methods – POS, LDA</vt:lpstr>
      <vt:lpstr>Methods – Raid Keyword Analysis</vt:lpstr>
      <vt:lpstr>Findings and Conclusion</vt:lpstr>
      <vt:lpstr>Challenges &amp; Outlook</vt:lpstr>
      <vt:lpstr>Challenges</vt:lpstr>
      <vt:lpstr>Outlook</vt:lpstr>
      <vt:lpstr>Thank You!</vt:lpstr>
      <vt:lpstr>Data</vt:lpstr>
      <vt:lpstr>Overview - Data</vt:lpstr>
      <vt:lpstr>Overview - Data</vt:lpstr>
      <vt:lpstr>Trend found: Non-  Controversial</vt:lpstr>
      <vt:lpstr>Trend found:  Controversial</vt:lpstr>
      <vt:lpstr>Model</vt:lpstr>
      <vt:lpstr>Model</vt:lpstr>
      <vt:lpstr>Donald Trump (Nov 2024)</vt:lpstr>
      <vt:lpstr>Donald Trump (Nov 2024)</vt:lpstr>
      <vt:lpstr>Artemis II (Apr 2026)</vt:lpstr>
      <vt:lpstr>Artemis II (Apr 2026)</vt:lpstr>
      <vt:lpstr>Challenges</vt:lpstr>
      <vt:lpstr>Challenges</vt:lpstr>
      <vt:lpstr>Updates</vt:lpstr>
      <vt:lpstr>Updates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116</cp:revision>
  <dcterms:modified xsi:type="dcterms:W3CDTF">2026-10-13T16:18:35Z</dcterms:modified>
</cp:coreProperties>
</file>